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61" r:id="rId4"/>
    <p:sldId id="259" r:id="rId6"/>
    <p:sldId id="25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本页说明 Knowledge Fabric 的核心优势：输入可以是冗长 SOP、操作录屏、图片、代码与记录等高噪声材料。平台通过多模态理解、关键信息识别、去噪去重与知识关联，将内容组织为业务对象、流程步骤、业务规则和来源证据，并保留可追溯上下文。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F_DARK"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6556248"/>
            <a:ext cx="11228832" cy="0"/>
          </a:xfrm>
          <a:prstGeom prst="line">
            <a:avLst/>
          </a:prstGeom>
          <a:noFill/>
          <a:ln w="8890">
            <a:solidFill>
              <a:srgbClr val="2A2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601968"/>
            <a:ext cx="22860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KNOWLEDGE FABRIC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74536"/>
            <a:ext cx="320040" cy="14630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F_DARK"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10528"/>
            <a:ext cx="11045952" cy="0"/>
          </a:xfrm>
          <a:prstGeom prst="line">
            <a:avLst/>
          </a:prstGeom>
          <a:noFill/>
          <a:ln w="9525">
            <a:solidFill>
              <a:srgbClr val="343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556248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KNOWLEDGE FABRIC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74536"/>
            <a:ext cx="320040" cy="14630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9" Type="http://schemas.openxmlformats.org/officeDocument/2006/relationships/image" Target="../media/image3.png"/><Relationship Id="rId18" Type="http://schemas.openxmlformats.org/officeDocument/2006/relationships/image" Target="../media/image2.png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35.xml"/><Relationship Id="rId21" Type="http://schemas.openxmlformats.org/officeDocument/2006/relationships/image" Target="../media/image4.png"/><Relationship Id="rId20" Type="http://schemas.microsoft.com/office/2007/relationships/media" Target="../media/media1.mp4"/><Relationship Id="rId2" Type="http://schemas.openxmlformats.org/officeDocument/2006/relationships/tags" Target="../tags/tag18.xml"/><Relationship Id="rId19" Type="http://schemas.openxmlformats.org/officeDocument/2006/relationships/video" Target="../media/media1.mp4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0040"/>
            <a:ext cx="56692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复杂资料的知识抽取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平台识别不同文件中的有效信息，过滤重复与噪音，并将结果组织为结构化知识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12648" y="13441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高噪声资料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986784" y="134416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2AE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多模态知识抽取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33488" y="134416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0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结构化知识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" y="1700784"/>
            <a:ext cx="2971800" cy="3813048"/>
          </a:xfrm>
          <a:prstGeom prst="roundRect">
            <a:avLst>
              <a:gd name="adj" fmla="val 2462"/>
            </a:avLst>
          </a:prstGeom>
          <a:solidFill>
            <a:srgbClr val="1B1E22"/>
          </a:solidFill>
          <a:ln w="12700">
            <a:solidFill>
              <a:srgbClr val="3D43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20000">
            <a:off x="832104" y="1984248"/>
            <a:ext cx="2322576" cy="859536"/>
          </a:xfrm>
          <a:prstGeom prst="roundRect">
            <a:avLst/>
          </a:prstGeom>
          <a:solidFill>
            <a:srgbClr val="24272C"/>
          </a:solidFill>
          <a:ln w="13970">
            <a:solidFill>
              <a:srgbClr val="4A4F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09397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SOP 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2386584"/>
            <a:ext cx="1874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18 页 · 多版本 · 大量描述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9424" y="2057400"/>
            <a:ext cx="694944" cy="292608"/>
          </a:xfrm>
          <a:prstGeom prst="roundRect">
            <a:avLst>
              <a:gd name="adj" fmla="val 25000"/>
            </a:avLst>
          </a:prstGeom>
          <a:solidFill>
            <a:srgbClr val="302820"/>
          </a:solidFill>
          <a:ln w="12700">
            <a:solidFill>
              <a:srgbClr val="F3A4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2061972"/>
            <a:ext cx="6949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A4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重复步骤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90000">
            <a:off x="969264" y="2889504"/>
            <a:ext cx="2340864" cy="896112"/>
          </a:xfrm>
          <a:prstGeom prst="roundRect">
            <a:avLst/>
          </a:prstGeom>
          <a:solidFill>
            <a:srgbClr val="20262B"/>
          </a:solidFill>
          <a:ln w="13970">
            <a:solidFill>
              <a:srgbClr val="4052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4712" y="3118104"/>
            <a:ext cx="310896" cy="310896"/>
          </a:xfrm>
          <a:prstGeom prst="ellipse">
            <a:avLst/>
          </a:prstGeom>
          <a:solidFill>
            <a:srgbClr val="55C2E8"/>
          </a:solidFill>
          <a:ln w="12700">
            <a:solidFill>
              <a:srgbClr val="55C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1181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2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017520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操作录屏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33101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42:18 · 停顿 / 回退 / 口语说明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 rot="-60000">
            <a:off x="786384" y="3895344"/>
            <a:ext cx="2505456" cy="1170432"/>
          </a:xfrm>
          <a:prstGeom prst="roundRect">
            <a:avLst/>
          </a:prstGeom>
          <a:solidFill>
            <a:srgbClr val="25242A"/>
          </a:solidFill>
          <a:ln w="13970">
            <a:solidFill>
              <a:srgbClr val="514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014216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图片 / 代码 / 记录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434340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截图  ·  仓库文件  ·  会议记录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" y="4645152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292335"/>
          </a:solidFill>
          <a:ln w="12700">
            <a:solidFill>
              <a:srgbClr val="B69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64972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69A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格式混合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09928" y="4645152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322326"/>
          </a:solidFill>
          <a:ln w="12700">
            <a:solidFill>
              <a:srgbClr val="F07D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9928" y="464972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7D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信息分散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59736" y="4645152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302820"/>
          </a:solidFill>
          <a:ln w="12700">
            <a:solidFill>
              <a:srgbClr val="F3A4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9736" y="464972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3A4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版本冲突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21024" y="3566160"/>
            <a:ext cx="274320" cy="0"/>
          </a:xfrm>
          <a:prstGeom prst="line">
            <a:avLst/>
          </a:prstGeom>
          <a:noFill/>
          <a:ln w="2794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68496" y="1700784"/>
            <a:ext cx="3017520" cy="3813048"/>
          </a:xfrm>
          <a:prstGeom prst="roundRect">
            <a:avLst>
              <a:gd name="adj" fmla="val 2424"/>
            </a:avLst>
          </a:prstGeom>
          <a:solidFill>
            <a:srgbClr val="17212D"/>
          </a:solidFill>
          <a:ln w="12700">
            <a:solidFill>
              <a:srgbClr val="3C5C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15968" y="2276856"/>
            <a:ext cx="146304" cy="146304"/>
          </a:xfrm>
          <a:prstGeom prst="ellipse">
            <a:avLst/>
          </a:prstGeom>
          <a:solidFill>
            <a:srgbClr val="6889AE"/>
          </a:solidFill>
          <a:ln w="12700">
            <a:solidFill>
              <a:srgbClr val="6889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167128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理解资料内容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645152" y="2487168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识别不同文件中的有效信息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315968" y="2898648"/>
            <a:ext cx="2258568" cy="0"/>
          </a:xfrm>
          <a:prstGeom prst="line">
            <a:avLst/>
          </a:prstGeom>
          <a:noFill/>
          <a:ln w="8890">
            <a:solidFill>
              <a:srgbClr val="3342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15968" y="3209544"/>
            <a:ext cx="146304" cy="146304"/>
          </a:xfrm>
          <a:prstGeom prst="ellipse">
            <a:avLst/>
          </a:prstGeom>
          <a:solidFill>
            <a:srgbClr val="75A1C9"/>
          </a:solidFill>
          <a:ln w="12700">
            <a:solidFill>
              <a:srgbClr val="75A1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309981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过滤噪音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45152" y="3419856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去除重复、无关内容和版本冲突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315968" y="3831336"/>
            <a:ext cx="2258568" cy="0"/>
          </a:xfrm>
          <a:prstGeom prst="line">
            <a:avLst/>
          </a:prstGeom>
          <a:noFill/>
          <a:ln w="8890">
            <a:solidFill>
              <a:srgbClr val="3342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15968" y="4142232"/>
            <a:ext cx="146304" cy="146304"/>
          </a:xfrm>
          <a:prstGeom prst="ellipse">
            <a:avLst/>
          </a:prstGeom>
          <a:solidFill>
            <a:srgbClr val="82B9D7"/>
          </a:solidFill>
          <a:ln w="12700">
            <a:solidFill>
              <a:srgbClr val="82B9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032504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组织知识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645152" y="4352544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识别对象、步骤、规则及其关联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315968" y="4974336"/>
            <a:ext cx="2258568" cy="0"/>
          </a:xfrm>
          <a:prstGeom prst="line">
            <a:avLst/>
          </a:prstGeom>
          <a:noFill/>
          <a:ln w="11430">
            <a:solidFill>
              <a:srgbClr val="3E587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5093208"/>
            <a:ext cx="225856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保留原始来源与上下文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3566160"/>
            <a:ext cx="228600" cy="0"/>
          </a:xfrm>
          <a:prstGeom prst="line">
            <a:avLst/>
          </a:prstGeom>
          <a:noFill/>
          <a:ln w="27940">
            <a:solidFill>
              <a:srgbClr val="5FA27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324344" y="1700784"/>
            <a:ext cx="4261104" cy="3813048"/>
          </a:xfrm>
          <a:prstGeom prst="roundRect">
            <a:avLst>
              <a:gd name="adj" fmla="val 1918"/>
            </a:avLst>
          </a:prstGeom>
          <a:solidFill>
            <a:srgbClr val="172722"/>
          </a:solidFill>
          <a:ln w="12700">
            <a:solidFill>
              <a:srgbClr val="3C71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36992" y="2139696"/>
            <a:ext cx="0" cy="2468880"/>
          </a:xfrm>
          <a:prstGeom prst="line">
            <a:avLst/>
          </a:prstGeom>
          <a:noFill/>
          <a:ln w="17780">
            <a:solidFill>
              <a:srgbClr val="416F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45552" y="2176272"/>
            <a:ext cx="182880" cy="182880"/>
          </a:xfrm>
          <a:prstGeom prst="ellipse">
            <a:avLst/>
          </a:prstGeom>
          <a:solidFill>
            <a:srgbClr val="5F9F83"/>
          </a:solidFill>
          <a:ln w="13970">
            <a:solidFill>
              <a:srgbClr val="1727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2057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业务对象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509760" y="205740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设备、角色、系统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45552" y="2880360"/>
            <a:ext cx="182880" cy="182880"/>
          </a:xfrm>
          <a:prstGeom prst="ellipse">
            <a:avLst/>
          </a:prstGeom>
          <a:solidFill>
            <a:srgbClr val="5F9F83"/>
          </a:solidFill>
          <a:ln w="13970">
            <a:solidFill>
              <a:srgbClr val="1727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276148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流程步骤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509760" y="276148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操作顺序、条件与结果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845552" y="3584448"/>
            <a:ext cx="182880" cy="182880"/>
          </a:xfrm>
          <a:prstGeom prst="ellipse">
            <a:avLst/>
          </a:prstGeom>
          <a:solidFill>
            <a:srgbClr val="5F9F83"/>
          </a:solidFill>
          <a:ln w="13970">
            <a:solidFill>
              <a:srgbClr val="1727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346557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业务规则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509760" y="3465576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约束、异常与决策逻辑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845552" y="4288536"/>
            <a:ext cx="182880" cy="182880"/>
          </a:xfrm>
          <a:prstGeom prst="ellipse">
            <a:avLst/>
          </a:prstGeom>
          <a:solidFill>
            <a:srgbClr val="70D6A1"/>
          </a:solidFill>
          <a:ln w="13970">
            <a:solidFill>
              <a:srgbClr val="1727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75320" y="4169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来源证据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509760" y="4169664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页码、时间戳或代码位置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836408" y="4965192"/>
            <a:ext cx="3191256" cy="0"/>
          </a:xfrm>
          <a:prstGeom prst="line">
            <a:avLst/>
          </a:prstGeom>
          <a:noFill/>
          <a:ln w="11430">
            <a:solidFill>
              <a:srgbClr val="416F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0" y="5093208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0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支持查询、复用和来源追溯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03504" y="5724144"/>
            <a:ext cx="10981944" cy="530352"/>
          </a:xfrm>
          <a:prstGeom prst="roundRect">
            <a:avLst>
              <a:gd name="adj" fmla="val 13793"/>
            </a:avLst>
          </a:prstGeom>
          <a:solidFill>
            <a:srgbClr val="19231F"/>
          </a:solidFill>
          <a:ln w="12700">
            <a:solidFill>
              <a:srgbClr val="385E4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" y="583387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0D6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平台价值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764792" y="5852160"/>
            <a:ext cx="0" cy="228600"/>
          </a:xfrm>
          <a:prstGeom prst="line">
            <a:avLst/>
          </a:prstGeom>
          <a:noFill/>
          <a:ln w="12700">
            <a:solidFill>
              <a:srgbClr val="4775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75104" y="5797296"/>
            <a:ext cx="88513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把高噪声资料转化为可查询、可复用、可持续更新的知识</a:t>
            </a:r>
            <a:endParaRPr lang="en-US" sz="130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</a:t>
            </a:r>
            <a:r>
              <a:rPr lang="zh-CN" altLang="en-US" sz="27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模态</a:t>
            </a:r>
            <a:r>
              <a:rPr lang="en-US" sz="27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资料统一汇聚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集中收集不同渠道的资料，为知识整理提供完整、可追溯的依据</a:t>
            </a:r>
            <a:endParaRPr lang="en-US" sz="1280" dirty="0"/>
          </a:p>
        </p:txBody>
      </p:sp>
      <p:sp>
        <p:nvSpPr>
          <p:cNvPr id="4" name="Text 2"/>
          <p:cNvSpPr/>
          <p:nvPr/>
        </p:nvSpPr>
        <p:spPr>
          <a:xfrm>
            <a:off x="603504" y="141732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20" b="1" kern="0" spc="80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支持</a:t>
            </a:r>
            <a:r>
              <a:rPr lang="en-US" sz="1120" b="1" kern="0" spc="80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资料来源</a:t>
            </a:r>
            <a:endParaRPr lang="en-US" sz="112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03504" y="18105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8AB4F8">
              <a:alpha val="16000"/>
            </a:srgbClr>
          </a:solidFill>
          <a:ln w="12700">
            <a:solidFill>
              <a:srgbClr val="8AB4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603504" y="1824228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</a:t>
            </a:r>
            <a:endParaRPr lang="en-US" sz="17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216152" y="18013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700" b="1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文本</a:t>
            </a:r>
            <a:r>
              <a:rPr lang="en-US" sz="1700" b="1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</a:t>
            </a:r>
            <a:endParaRPr lang="en-US" sz="1700" b="1" dirty="0">
              <a:solidFill>
                <a:srgbClr val="8AB4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216152" y="2075688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文件、文件夹与常用办公文档</a:t>
            </a:r>
            <a:endParaRPr lang="en-US" sz="104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603504" y="27614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B69AF6">
              <a:alpha val="16000"/>
            </a:srgbClr>
          </a:solidFill>
          <a:ln w="12700">
            <a:solidFill>
              <a:srgbClr val="B69A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603504" y="2775204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69A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码</a:t>
            </a:r>
            <a:endParaRPr lang="en-US" sz="17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1216152" y="275234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700" b="1" dirty="0">
                <a:solidFill>
                  <a:srgbClr val="B69A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代码仓库</a:t>
            </a:r>
            <a:endParaRPr lang="en-US" sz="1700" b="1" dirty="0">
              <a:solidFill>
                <a:srgbClr val="B69A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216152" y="302666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拉取 Bitbucket 仓库与指定分支</a:t>
            </a:r>
            <a:endParaRPr lang="en-US" sz="104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603504" y="371246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55C2E8">
              <a:alpha val="16000"/>
            </a:srgbClr>
          </a:solidFill>
          <a:ln w="12700">
            <a:solidFill>
              <a:srgbClr val="55C2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603504" y="3726180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5C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</a:t>
            </a:r>
            <a:endParaRPr lang="en-US" sz="17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216152" y="37033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5C2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图片与数据</a:t>
            </a:r>
            <a:endParaRPr lang="en-US" sz="1700" b="1" dirty="0">
              <a:solidFill>
                <a:srgbClr val="55C2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216152" y="397764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图片、CSV、JSON、YAML 等资料</a:t>
            </a:r>
            <a:endParaRPr lang="en-US" sz="104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03504" y="466344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3A45B">
              <a:alpha val="16000"/>
            </a:srgbClr>
          </a:solidFill>
          <a:ln w="12700">
            <a:solidFill>
              <a:srgbClr val="F3A45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03504" y="4677156"/>
            <a:ext cx="4389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A4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影</a:t>
            </a:r>
            <a:endParaRPr lang="en-US" sz="17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1216152" y="4654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A4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视频录屏</a:t>
            </a:r>
            <a:endParaRPr lang="en-US" sz="165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216152" y="4928616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从真实操作中提取标准操作流程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612648" y="5870448"/>
            <a:ext cx="3419856" cy="0"/>
          </a:xfrm>
          <a:prstGeom prst="line">
            <a:avLst/>
          </a:prstGeom>
          <a:noFill/>
          <a:ln w="13970">
            <a:solidFill>
              <a:srgbClr val="3438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" y="599846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多维来源统一管理，对应知识一一</a:t>
            </a:r>
            <a:r>
              <a:rPr lang="zh-CN" altLang="en-US" sz="125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关联</a:t>
            </a:r>
            <a:endParaRPr lang="zh-CN" altLang="en-US" sz="1250" dirty="0">
              <a:solidFill>
                <a:srgbClr val="AAB2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74536"/>
            <a:ext cx="320040" cy="14630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5610174" y="712470"/>
            <a:ext cx="5993412" cy="3110865"/>
            <a:chOff x="9868" y="2037"/>
            <a:chExt cx="8407" cy="425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pic>
          <p:nvPicPr>
            <p:cNvPr id="22" name="Image 0" descr="C:\Users\starf\Desktop\knowledge-fabric\.codex-build\kf-capabilities\resource-library-direct.png"/>
            <p:cNvPicPr>
              <a:picLocks noChangeAspect="1"/>
            </p:cNvPicPr>
            <p:nvPr/>
          </p:nvPicPr>
          <p:blipFill>
            <a:blip r:embed="rId17"/>
            <a:srcRect r="69863" b="41210"/>
            <a:stretch>
              <a:fillRect/>
            </a:stretch>
          </p:blipFill>
          <p:spPr>
            <a:xfrm>
              <a:off x="9868" y="2037"/>
              <a:ext cx="3878" cy="4256"/>
            </a:xfrm>
            <a:prstGeom prst="rect">
              <a:avLst/>
            </a:prstGeom>
            <a:ln w="635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0" name="Image 0" descr="C:\Users\starf\Desktop\knowledge-fabric\.codex-build\kf-capabilities\resource-library-direct.png"/>
            <p:cNvPicPr>
              <a:picLocks noChangeAspect="1"/>
            </p:cNvPicPr>
            <p:nvPr/>
          </p:nvPicPr>
          <p:blipFill>
            <a:blip r:embed="rId17"/>
            <a:srcRect l="64113" b="41210"/>
            <a:stretch>
              <a:fillRect/>
            </a:stretch>
          </p:blipFill>
          <p:spPr>
            <a:xfrm>
              <a:off x="13657" y="2037"/>
              <a:ext cx="4618" cy="4256"/>
            </a:xfrm>
            <a:prstGeom prst="rect">
              <a:avLst/>
            </a:prstGeom>
            <a:ln w="635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2" name="圆角矩形 31"/>
          <p:cNvSpPr/>
          <p:nvPr/>
        </p:nvSpPr>
        <p:spPr>
          <a:xfrm>
            <a:off x="5593715" y="662940"/>
            <a:ext cx="6083300" cy="3296285"/>
          </a:xfrm>
          <a:prstGeom prst="roundRect">
            <a:avLst>
              <a:gd name="adj" fmla="val 6649"/>
            </a:avLst>
          </a:prstGeom>
          <a:noFill/>
          <a:ln w="0">
            <a:solidFill>
              <a:schemeClr val="accent5">
                <a:lumMod val="20000"/>
                <a:lumOff val="80000"/>
                <a:alpha val="9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8"/>
          <a:srcRect l="3402" t="4595" r="2156" b="6251"/>
          <a:stretch>
            <a:fillRect/>
          </a:stretch>
        </p:blipFill>
        <p:spPr>
          <a:xfrm>
            <a:off x="5090160" y="3112135"/>
            <a:ext cx="5252720" cy="313944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3" name="圆角矩形 32"/>
          <p:cNvSpPr/>
          <p:nvPr/>
        </p:nvSpPr>
        <p:spPr>
          <a:xfrm>
            <a:off x="4999355" y="3026410"/>
            <a:ext cx="5394325" cy="3271520"/>
          </a:xfrm>
          <a:prstGeom prst="roundRect">
            <a:avLst>
              <a:gd name="adj" fmla="val 6649"/>
            </a:avLst>
          </a:prstGeom>
          <a:noFill/>
          <a:ln w="0">
            <a:solidFill>
              <a:schemeClr val="accent5">
                <a:lumMod val="20000"/>
                <a:lumOff val="80000"/>
                <a:alpha val="9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左箭头 33"/>
          <p:cNvSpPr/>
          <p:nvPr/>
        </p:nvSpPr>
        <p:spPr>
          <a:xfrm rot="18900000">
            <a:off x="9670415" y="2211070"/>
            <a:ext cx="1825625" cy="191135"/>
          </a:xfrm>
          <a:prstGeom prst="leftArrow">
            <a:avLst>
              <a:gd name="adj1" fmla="val 50000"/>
              <a:gd name="adj2" fmla="val 53270"/>
            </a:avLst>
          </a:prstGeom>
          <a:solidFill>
            <a:schemeClr val="bg1">
              <a:lumMod val="95000"/>
              <a:alpha val="5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9"/>
          <a:srcRect b="1583"/>
          <a:stretch>
            <a:fillRect/>
          </a:stretch>
        </p:blipFill>
        <p:spPr>
          <a:xfrm>
            <a:off x="11069955" y="1078230"/>
            <a:ext cx="494030" cy="486410"/>
          </a:xfrm>
          <a:prstGeom prst="ellipse">
            <a:avLst/>
          </a:prstGeom>
          <a:ln>
            <a:solidFill>
              <a:schemeClr val="bg1">
                <a:lumMod val="95000"/>
                <a:alpha val="68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知识生成流程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Knowledge Fabric 分析资料并生成</a:t>
            </a:r>
            <a:r>
              <a:rPr lang="zh-CN" altLang="en-US" sz="128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知识</a:t>
            </a:r>
            <a:r>
              <a:rPr lang="en-US" sz="128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，用户确认后形成结构化 Ontology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7452360" cy="4187952"/>
          </a:xfrm>
          <a:prstGeom prst="roundRect">
            <a:avLst>
              <a:gd name="adj" fmla="val 2620"/>
            </a:avLst>
          </a:prstGeom>
          <a:solidFill>
            <a:srgbClr val="181B1F"/>
          </a:solidFill>
          <a:ln w="15240">
            <a:solidFill>
              <a:srgbClr val="3A424C"/>
            </a:solidFill>
            <a:prstDash val="solid"/>
          </a:ln>
          <a:effectLst>
            <a:outerShdw blurRad="38100" dist="50800" dir="2700000" algn="bl" rotWithShape="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36192"/>
            <a:ext cx="7086600" cy="3822192"/>
          </a:xfrm>
          <a:prstGeom prst="roundRect">
            <a:avLst>
              <a:gd name="adj" fmla="val 1914"/>
            </a:avLst>
          </a:prstGeom>
          <a:solidFill>
            <a:srgbClr val="20242A"/>
          </a:solidFill>
          <a:ln w="11430">
            <a:solidFill>
              <a:srgbClr val="424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3716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kern="0" spc="60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用户操作与系统处理</a:t>
            </a:r>
            <a:endParaRPr lang="en-US" sz="1120" dirty="0"/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8375904" y="1783080"/>
            <a:ext cx="347472" cy="347472"/>
          </a:xfrm>
          <a:prstGeom prst="ellipse">
            <a:avLst/>
          </a:prstGeom>
          <a:solidFill>
            <a:srgbClr val="252930"/>
          </a:solidFill>
          <a:ln w="12700">
            <a:solidFill>
              <a:srgbClr val="59616C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8375904" y="1792224"/>
            <a:ext cx="347472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020" dirty="0"/>
          </a:p>
        </p:txBody>
      </p:sp>
      <p:sp>
        <p:nvSpPr>
          <p:cNvPr id="13" name="Shape 11"/>
          <p:cNvSpPr/>
          <p:nvPr>
            <p:custDataLst>
              <p:tags r:id="rId3"/>
            </p:custDataLst>
          </p:nvPr>
        </p:nvSpPr>
        <p:spPr>
          <a:xfrm>
            <a:off x="8549640" y="2139696"/>
            <a:ext cx="0" cy="667512"/>
          </a:xfrm>
          <a:prstGeom prst="line">
            <a:avLst/>
          </a:prstGeom>
          <a:noFill/>
          <a:ln w="15240">
            <a:solidFill>
              <a:srgbClr val="34383E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8924544" y="1755648"/>
            <a:ext cx="2331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发起整理</a:t>
            </a:r>
            <a:endParaRPr lang="en-US" sz="1440" dirty="0"/>
          </a:p>
        </p:txBody>
      </p:sp>
      <p:sp>
        <p:nvSpPr>
          <p:cNvPr id="15" name="Text 13"/>
          <p:cNvSpPr/>
          <p:nvPr>
            <p:custDataLst>
              <p:tags r:id="rId5"/>
            </p:custDataLst>
          </p:nvPr>
        </p:nvSpPr>
        <p:spPr>
          <a:xfrm>
            <a:off x="8924544" y="2066544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用自然语言描述需要整理的业务知识</a:t>
            </a:r>
            <a:endParaRPr lang="en-US" sz="970" dirty="0"/>
          </a:p>
        </p:txBody>
      </p:sp>
      <p:sp>
        <p:nvSpPr>
          <p:cNvPr id="16" name="Shape 14"/>
          <p:cNvSpPr/>
          <p:nvPr>
            <p:custDataLst>
              <p:tags r:id="rId6"/>
            </p:custDataLst>
          </p:nvPr>
        </p:nvSpPr>
        <p:spPr>
          <a:xfrm>
            <a:off x="8375904" y="2770632"/>
            <a:ext cx="347472" cy="347472"/>
          </a:xfrm>
          <a:prstGeom prst="ellipse">
            <a:avLst/>
          </a:prstGeom>
          <a:solidFill>
            <a:srgbClr val="252930"/>
          </a:solidFill>
          <a:ln w="12700">
            <a:solidFill>
              <a:srgbClr val="59616C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7"/>
            </p:custDataLst>
          </p:nvPr>
        </p:nvSpPr>
        <p:spPr>
          <a:xfrm>
            <a:off x="8375904" y="2779776"/>
            <a:ext cx="347472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020" dirty="0"/>
          </a:p>
        </p:txBody>
      </p:sp>
      <p:sp>
        <p:nvSpPr>
          <p:cNvPr id="18" name="Shape 16"/>
          <p:cNvSpPr/>
          <p:nvPr>
            <p:custDataLst>
              <p:tags r:id="rId8"/>
            </p:custDataLst>
          </p:nvPr>
        </p:nvSpPr>
        <p:spPr>
          <a:xfrm>
            <a:off x="8549640" y="3127248"/>
            <a:ext cx="0" cy="667512"/>
          </a:xfrm>
          <a:prstGeom prst="line">
            <a:avLst/>
          </a:prstGeom>
          <a:noFill/>
          <a:ln w="15240">
            <a:solidFill>
              <a:srgbClr val="34383E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9"/>
            </p:custDataLst>
          </p:nvPr>
        </p:nvSpPr>
        <p:spPr>
          <a:xfrm>
            <a:off x="8924544" y="2743200"/>
            <a:ext cx="2331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选择资料</a:t>
            </a:r>
            <a:endParaRPr lang="en-US" sz="1440" dirty="0"/>
          </a:p>
        </p:txBody>
      </p:sp>
      <p:sp>
        <p:nvSpPr>
          <p:cNvPr id="36" name="Shape 14"/>
          <p:cNvSpPr/>
          <p:nvPr>
            <p:custDataLst>
              <p:tags r:id="rId10"/>
            </p:custDataLst>
          </p:nvPr>
        </p:nvSpPr>
        <p:spPr>
          <a:xfrm>
            <a:off x="8375904" y="3767582"/>
            <a:ext cx="347472" cy="347472"/>
          </a:xfrm>
          <a:prstGeom prst="ellipse">
            <a:avLst/>
          </a:prstGeom>
          <a:solidFill>
            <a:srgbClr val="252930"/>
          </a:solidFill>
          <a:ln w="12700">
            <a:solidFill>
              <a:srgbClr val="59616C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8924544" y="3054096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引用资源库中的文件、代码或视频</a:t>
            </a:r>
            <a:endParaRPr lang="en-US" sz="970" dirty="0"/>
          </a:p>
        </p:txBody>
      </p:sp>
      <p:sp>
        <p:nvSpPr>
          <p:cNvPr id="22" name="Text 20"/>
          <p:cNvSpPr/>
          <p:nvPr>
            <p:custDataLst>
              <p:tags r:id="rId12"/>
            </p:custDataLst>
          </p:nvPr>
        </p:nvSpPr>
        <p:spPr>
          <a:xfrm>
            <a:off x="8375904" y="3767328"/>
            <a:ext cx="347472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020" dirty="0"/>
          </a:p>
        </p:txBody>
      </p:sp>
      <p:sp>
        <p:nvSpPr>
          <p:cNvPr id="24" name="Text 22"/>
          <p:cNvSpPr/>
          <p:nvPr>
            <p:custDataLst>
              <p:tags r:id="rId13"/>
            </p:custDataLst>
          </p:nvPr>
        </p:nvSpPr>
        <p:spPr>
          <a:xfrm>
            <a:off x="8924544" y="3730752"/>
            <a:ext cx="23317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44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审阅并确认</a:t>
            </a:r>
            <a:endParaRPr lang="en-US" sz="1440" b="1" dirty="0">
              <a:solidFill>
                <a:srgbClr val="F2F4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5" name="Text 23"/>
          <p:cNvSpPr/>
          <p:nvPr>
            <p:custDataLst>
              <p:tags r:id="rId14"/>
            </p:custDataLst>
          </p:nvPr>
        </p:nvSpPr>
        <p:spPr>
          <a:xfrm>
            <a:off x="8924544" y="4041648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检查系统生成的草稿，确认即可继续</a:t>
            </a:r>
            <a:endParaRPr lang="en-US" sz="970" dirty="0"/>
          </a:p>
        </p:txBody>
      </p:sp>
      <p:sp>
        <p:nvSpPr>
          <p:cNvPr id="26" name="Shape 24"/>
          <p:cNvSpPr/>
          <p:nvPr>
            <p:custDataLst>
              <p:tags r:id="rId15"/>
            </p:custDataLst>
          </p:nvPr>
        </p:nvSpPr>
        <p:spPr>
          <a:xfrm>
            <a:off x="8375904" y="4745736"/>
            <a:ext cx="347472" cy="347472"/>
          </a:xfrm>
          <a:prstGeom prst="ellipse">
            <a:avLst/>
          </a:prstGeom>
          <a:solidFill>
            <a:srgbClr val="252930"/>
          </a:solidFill>
          <a:ln w="12700">
            <a:solidFill>
              <a:srgbClr val="59616C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16"/>
            </p:custDataLst>
          </p:nvPr>
        </p:nvSpPr>
        <p:spPr>
          <a:xfrm>
            <a:off x="8375904" y="4754880"/>
            <a:ext cx="347472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1020" dirty="0"/>
          </a:p>
        </p:txBody>
      </p:sp>
      <p:sp>
        <p:nvSpPr>
          <p:cNvPr id="28" name="Text 26"/>
          <p:cNvSpPr/>
          <p:nvPr>
            <p:custDataLst>
              <p:tags r:id="rId17"/>
            </p:custDataLst>
          </p:nvPr>
        </p:nvSpPr>
        <p:spPr>
          <a:xfrm>
            <a:off x="8924544" y="4718304"/>
            <a:ext cx="23317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b="1" dirty="0">
                <a:solidFill>
                  <a:srgbClr val="F2F4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生成本体</a:t>
            </a:r>
            <a:endParaRPr lang="en-US" sz="1440" dirty="0"/>
          </a:p>
        </p:txBody>
      </p:sp>
      <p:sp>
        <p:nvSpPr>
          <p:cNvPr id="29" name="Text 27"/>
          <p:cNvSpPr/>
          <p:nvPr>
            <p:custDataLst>
              <p:tags r:id="rId18"/>
            </p:custDataLst>
          </p:nvPr>
        </p:nvSpPr>
        <p:spPr>
          <a:xfrm>
            <a:off x="8924544" y="502920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形成可追溯、可持续维护的 Ontology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95528" y="5769864"/>
            <a:ext cx="7050024" cy="457200"/>
          </a:xfrm>
          <a:prstGeom prst="roundRect">
            <a:avLst>
              <a:gd name="adj" fmla="val 16000"/>
            </a:avLst>
          </a:prstGeom>
          <a:solidFill>
            <a:srgbClr val="1D2D44"/>
          </a:solidFill>
          <a:ln w="10160">
            <a:solidFill>
              <a:srgbClr val="8AB4F8">
                <a:alpha val="4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879592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70" b="1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知识梳理全托管，用户协助确认，本体自动</a:t>
            </a:r>
            <a:r>
              <a:rPr lang="zh-CN" altLang="en-US" sz="1170" b="1" dirty="0">
                <a:solidFill>
                  <a:srgbClr val="8AB4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生成</a:t>
            </a:r>
            <a:endParaRPr lang="zh-CN" altLang="en-US" sz="1170" b="1" dirty="0">
              <a:solidFill>
                <a:srgbClr val="8AB4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01184" y="5879592"/>
            <a:ext cx="26700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0" dirty="0">
                <a:solidFill>
                  <a:srgbClr val="AAB2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业务对象     业务流程     业务规则</a:t>
            </a:r>
            <a:endParaRPr lang="en-US" sz="97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74536"/>
            <a:ext cx="320040" cy="14630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7780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34" name="Video Project 4">
            <a:hlinkClick r:id="" action="ppaction://media"/>
          </p:cNvPr>
          <p:cNvPicPr/>
          <p:nvPr>
            <a:vide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795655" y="1536065"/>
            <a:ext cx="7043420" cy="3822700"/>
          </a:xfrm>
          <a:prstGeom prst="rect">
            <a:avLst/>
          </a:prstGeom>
        </p:spPr>
      </p:pic>
      <p:sp>
        <p:nvSpPr>
          <p:cNvPr id="37" name="Shape 16"/>
          <p:cNvSpPr/>
          <p:nvPr>
            <p:custDataLst>
              <p:tags r:id="rId22"/>
            </p:custDataLst>
          </p:nvPr>
        </p:nvSpPr>
        <p:spPr>
          <a:xfrm>
            <a:off x="8549640" y="4114673"/>
            <a:ext cx="0" cy="667512"/>
          </a:xfrm>
          <a:prstGeom prst="line">
            <a:avLst/>
          </a:prstGeom>
          <a:noFill/>
          <a:ln w="15240">
            <a:solidFill>
              <a:srgbClr val="34383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2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3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4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5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6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7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8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9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0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1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2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3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4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5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6.xml><?xml version="1.0" encoding="utf-8"?>
<p:tagLst xmlns:p="http://schemas.openxmlformats.org/presentationml/2006/main">
  <p:tag name="KSO_WM_DIAGRAM_VIRTUALLY_FRAME" val="{&quot;height&quot;:276.47999999999996,&quot;left&quot;:47.519999999999996,&quot;top&quot;:141.84,&quot;width&quot;:275.04}"/>
</p:tagLst>
</file>

<file path=ppt/tags/tag17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18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19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0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1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2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3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4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5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6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7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8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29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30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31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32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33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34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ags/tag35.xml><?xml version="1.0" encoding="utf-8"?>
<p:tagLst xmlns:p="http://schemas.openxmlformats.org/presentationml/2006/main">
  <p:tag name="KSO_WM_DIAGRAM_VIRTUALLY_FRAME" val="{&quot;height&quot;:293.76,&quot;left&quot;:659.52,&quot;top&quot;:138.24,&quot;width&quot;:239.0400000000000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WPS 演示</Application>
  <PresentationFormat>On-screen Show (16:9)</PresentationFormat>
  <Paragraphs>140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Office Theme</vt:lpstr>
      <vt:lpstr>PowerPoint 演示文稿</vt:lpstr>
      <vt:lpstr>PowerPoint 演示文稿</vt:lpstr>
      <vt:lpstr>PowerPoint 演示文稿</vt:lpstr>
    </vt:vector>
  </TitlesOfParts>
  <Company>Knowledge Fabric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Fabric 能力介绍</dc:title>
  <dc:creator>OpenAI Codex</dc:creator>
  <dc:subject>Knowledge Fabric 能力介绍</dc:subject>
  <cp:lastModifiedBy>F</cp:lastModifiedBy>
  <cp:revision>4</cp:revision>
  <dcterms:created xsi:type="dcterms:W3CDTF">2026-10-27T08:32:00Z</dcterms:created>
  <dcterms:modified xsi:type="dcterms:W3CDTF">2026-10-27T10:06:28Z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EF96F19AFDAE4DFDBF178CE97DA233FF_12</vt:lpwstr>
  </property>
</Properties>
</file>