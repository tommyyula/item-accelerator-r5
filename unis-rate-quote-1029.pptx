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2" r:id="rId5"/>
    <p:sldId id="260" r:id="rId6"/>
    <p:sldId id="257" r:id="rId7"/>
    <p:sldId id="259" r:id="rId8"/>
    <p:sldId id="265" r:id="rId9"/>
    <p:sldId id="258" r:id="rId10"/>
    <p:sldId id="263" r:id="rId11"/>
    <p:sldId id="264" r:id="rId12"/>
    <p:sldId id="266" r:id="rId13"/>
    <p:sldId id="267" r:id="rId14"/>
    <p:sldId id="26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r>
              <a:rPr lang="zh-CN"/>
              <a:t>封面：UNIS Rate &amp; Quote。副题：补齐业务知识与系统数据之间的 gap。Sources: R5 D1.2.3 UNIS Rate &amp; Quote; https://youtu.be/TBX9CNtFQ6k; prior client speech narrative.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r>
              <a:t>Object Database｜数据语义：原始数据散落在表与字段中；对表、字段、关系做语义定义；形成可引用的数据语义（RAW → SEMANTICS）。Sources: R5 D1.2.3; https://youtu.be/TBX9CNtFQ6k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r>
              <a:rPr lang="zh-CN"/>
              <a:t>概念对齐：BNP（Bill and Pay）是开票与付款业务域，关联收费、结算、账单、支付、开票；Rate Sheet 是 BNP 子场景，管费率如何定、条件如何适用。Sources: R5 D1.2.3; https://youtu.be/TBX9CNtFQ6k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r>
              <a:rPr lang="zh-CN"/>
              <a:t>业务痛点：1) 系统开发跟不上业务增长与变化；2) 业务知识留在人脑难沉淀，人员变动则流失；3) AI Native 需要理解业务与系统数据，二者之间存在 gap。Sources: R5 D1.2.3; https://youtu.be/TBX9CNtFQ6k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r>
              <a:t>解决思路：Object Database（数据语义）→ Ontology Studio（业务本体）→ Agent Factory ∥ ItemGPT → 动态生成应用。Agent Factory 提供能力调用；ItemGPT 为运行/呈现入口，二者并列。Sources: R5 D1.2.3; https://youtu.be/TBX9CNtFQ6k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r>
              <a:t>Object Database｜数据语义：原始数据散落在表与字段中；对表、字段、关系做语义定义；形成可引用的数据语义（RAW → SEMANTICS）。Sources: R5 D1.2.3; https://youtu.be/TBX9CNtFQ6k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r>
              <a:t>Ontology Studio｜业务本体：接入 Object Database 的数据语义；业务专家补规则、流程、例外与决策边界；语义与本体对齐后，AI 才有完整业务世界可理解。Sources: R5 D1.2.3; https://youtu.be/TBX9CNtFQ6k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r>
              <a:t>Ontology Studio｜业务本体：接入 Object Database 的数据语义；业务专家补规则、流程、例外与决策边界；语义与本体对齐后，AI 才有完整业务世界可理解。Sources: R5 D1.2.3; https://youtu.be/TBX9CNtFQ6k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r>
              <a:t>Object Database｜数据语义：原始数据散落在表与字段中；对表、字段、关系做语义定义；形成可引用的数据语义（RAW → SEMANTICS）。Sources: R5 D1.2.3; https://youtu.be/TBX9CNtFQ6k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youtu.be/TBX9CNtFQ6k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3" name="Text 1"/>
          <p:cNvSpPr/>
          <p:nvPr/>
        </p:nvSpPr>
        <p:spPr>
          <a:xfrm>
            <a:off x="571500" y="1463040"/>
            <a:ext cx="1104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0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× COO AI Team × ISS Biz T</a:t>
            </a:r>
            <a:r>
              <a:rPr lang="en-US" altLang="zh-CN" sz="110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eam</a:t>
            </a:r>
            <a:endParaRPr lang="en-US" altLang="zh-CN" sz="1100" dirty="0">
              <a:solidFill>
                <a:srgbClr val="52647B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1500" y="1874520"/>
            <a:ext cx="11049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UNIS Rate &amp; Quote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71500" y="2606040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6" name="Text 4"/>
          <p:cNvSpPr/>
          <p:nvPr/>
        </p:nvSpPr>
        <p:spPr>
          <a:xfrm>
            <a:off x="571500" y="2834640"/>
            <a:ext cx="93916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</a:t>
            </a:r>
            <a:r>
              <a:rPr lang="en-US" sz="16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业务知识与系统数据之间的</a:t>
            </a:r>
            <a:r>
              <a:rPr lang="zh-CN" altLang="en-US" sz="16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差距，转型</a:t>
            </a:r>
            <a:r>
              <a:rPr lang="en-US" altLang="zh-CN" sz="16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Native</a:t>
            </a:r>
            <a:endParaRPr lang="en-US" altLang="zh-CN" sz="1600" dirty="0">
              <a:solidFill>
                <a:srgbClr val="52647B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21880" y="6473952"/>
            <a:ext cx="41986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12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605"/>
            <a:ext cx="11049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00 · 开场视频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1500" y="751637"/>
            <a:ext cx="11049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先看一段演示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1500" y="1245413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22" name="Video Slot"/>
          <p:cNvSpPr/>
          <p:nvPr/>
        </p:nvSpPr>
        <p:spPr>
          <a:xfrm>
            <a:off x="571500" y="1874519"/>
            <a:ext cx="11048695" cy="3246120"/>
          </a:xfrm>
          <a:prstGeom prst="roundRect">
            <a:avLst>
              <a:gd name="adj" fmla="val 8000"/>
            </a:avLst>
          </a:prstGeom>
          <a:solidFill>
            <a:srgbClr val="F0FAF9">
              <a:alpha val="60000"/>
            </a:srgbClr>
          </a:solidFill>
          <a:ln w="25400">
            <a:solidFill>
              <a:srgbClr val="007F86"/>
            </a:solidFill>
            <a:prstDash val="dash"/>
          </a:ln>
        </p:spPr>
      </p:sp>
      <p:sp>
        <p:nvSpPr>
          <p:cNvPr id="23" name="Play CTA"/>
          <p:cNvSpPr/>
          <p:nvPr/>
        </p:nvSpPr>
        <p:spPr>
          <a:xfrm>
            <a:off x="571500" y="2743200"/>
            <a:ext cx="110486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2200" b="1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/>
              </a:rPr>
              <a:t>▶  点击播放</a:t>
            </a:r>
            <a:endParaRPr lang="en-US" altLang="zh-CN" sz="2200" b="1" dirty="0">
              <a:solidFill>
                <a:srgbClr val="007F86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hlinkClick r:id="rId1"/>
            </a:endParaRPr>
          </a:p>
        </p:txBody>
      </p:sp>
      <p:sp>
        <p:nvSpPr>
          <p:cNvPr id="24" name="YouTube URL"/>
          <p:cNvSpPr/>
          <p:nvPr/>
        </p:nvSpPr>
        <p:spPr>
          <a:xfrm>
            <a:off x="571500" y="3383280"/>
            <a:ext cx="1104869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/>
              </a:rPr>
              <a:t>https://youtu.be/TBX9CNtFQ6k</a:t>
            </a:r>
            <a:endParaRPr lang="zh-CN" sz="1600" dirty="0"/>
          </a:p>
        </p:txBody>
      </p:sp>
      <p:sp>
        <p:nvSpPr>
          <p:cNvPr id="21" name="Text 19"/>
          <p:cNvSpPr/>
          <p:nvPr/>
        </p:nvSpPr>
        <p:spPr>
          <a:xfrm>
            <a:off x="7421880" y="6473952"/>
            <a:ext cx="41986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605"/>
            <a:ext cx="11049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· 概念对齐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1500" y="751637"/>
            <a:ext cx="11049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BNP &amp; Rate S</a:t>
            </a:r>
            <a:r>
              <a:rPr 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heet</a:t>
            </a:r>
            <a:endParaRPr lang="en-US" sz="2400" b="1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71500" y="1245413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5" name="Text 3"/>
          <p:cNvSpPr/>
          <p:nvPr/>
        </p:nvSpPr>
        <p:spPr>
          <a:xfrm>
            <a:off x="571500" y="1364285"/>
            <a:ext cx="11049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BNP 是开票与付款业务域；Rate Sheet 是其中费率如何定、条件如何适用的子场景。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1500" y="1828800"/>
            <a:ext cx="530352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7" name="Text 5"/>
          <p:cNvSpPr/>
          <p:nvPr/>
        </p:nvSpPr>
        <p:spPr>
          <a:xfrm>
            <a:off x="571500" y="196596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BNP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" y="22402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Bill and Pay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7432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开票与付款业务域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1500" y="31546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关联：收费、结算、账单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" y="35661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支付、开票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16980" y="1828800"/>
            <a:ext cx="530352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3" name="Text 11"/>
          <p:cNvSpPr/>
          <p:nvPr/>
        </p:nvSpPr>
        <p:spPr>
          <a:xfrm>
            <a:off x="6316980" y="196596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RATE SHEET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980" y="22402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Rate Sheet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16980" y="27432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BNP 子场景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16980" y="31546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费率如何定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16980" y="35661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条件如何适用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1500" y="5212080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19" name="Text 17"/>
          <p:cNvSpPr/>
          <p:nvPr/>
        </p:nvSpPr>
        <p:spPr>
          <a:xfrm>
            <a:off x="571500" y="5349240"/>
            <a:ext cx="11049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要点  </a:t>
            </a: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BNP = Bill and Pay · 开票与付款；Rate Sheet = BNP 子场景 · 费率与条件</a:t>
            </a:r>
            <a:endParaRPr lang="zh-CN" altLang="en-US" sz="1300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21880" y="6473952"/>
            <a:ext cx="41986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605"/>
            <a:ext cx="11049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· 业务痛点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1500" y="751637"/>
            <a:ext cx="11049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Rate Sheet</a:t>
            </a:r>
            <a:r>
              <a:rPr lang="zh-CN" alt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当前业务</a:t>
            </a:r>
            <a:r>
              <a:rPr lang="zh-CN" alt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痛点</a:t>
            </a:r>
            <a:endParaRPr lang="zh-CN" altLang="en-US" sz="2400" b="1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71500" y="1245413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5" name="Text 3"/>
          <p:cNvSpPr/>
          <p:nvPr/>
        </p:nvSpPr>
        <p:spPr>
          <a:xfrm>
            <a:off x="571500" y="1364285"/>
            <a:ext cx="11049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开发滞后于业务；知识随人流失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2022653"/>
            <a:ext cx="3530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系统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" y="2296973"/>
            <a:ext cx="353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系统跟不上</a:t>
            </a:r>
            <a:r>
              <a:rPr lang="zh-CN" alt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变化</a:t>
            </a:r>
            <a:endParaRPr lang="zh-CN" altLang="en-US" sz="1600" b="1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71500" y="3119933"/>
            <a:ext cx="3530600" cy="9144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10" name="Text 8"/>
          <p:cNvSpPr/>
          <p:nvPr/>
        </p:nvSpPr>
        <p:spPr>
          <a:xfrm>
            <a:off x="571500" y="2735885"/>
            <a:ext cx="353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系统开发跟不上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" y="3622853"/>
            <a:ext cx="3530600" cy="9144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12" name="Text 10"/>
          <p:cNvSpPr/>
          <p:nvPr/>
        </p:nvSpPr>
        <p:spPr>
          <a:xfrm>
            <a:off x="571500" y="3238805"/>
            <a:ext cx="353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业务增长与变化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4125773"/>
            <a:ext cx="3530600" cy="9144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14" name="Text 12"/>
          <p:cNvSpPr/>
          <p:nvPr/>
        </p:nvSpPr>
        <p:spPr>
          <a:xfrm>
            <a:off x="571500" y="3741725"/>
            <a:ext cx="353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交付节奏难同步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16980" y="1987093"/>
            <a:ext cx="3530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知识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6980" y="2261413"/>
            <a:ext cx="353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知识留在人脑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16980" y="3084373"/>
            <a:ext cx="3530600" cy="9144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19" name="Text 17"/>
          <p:cNvSpPr/>
          <p:nvPr/>
        </p:nvSpPr>
        <p:spPr>
          <a:xfrm>
            <a:off x="6316980" y="2700325"/>
            <a:ext cx="353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规则与例外口口相传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16980" y="3587293"/>
            <a:ext cx="3530600" cy="9144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21" name="Text 19"/>
          <p:cNvSpPr/>
          <p:nvPr/>
        </p:nvSpPr>
        <p:spPr>
          <a:xfrm>
            <a:off x="6316980" y="3203245"/>
            <a:ext cx="353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业务知识难进系统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16980" y="4090213"/>
            <a:ext cx="3530600" cy="9144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23" name="Text 21"/>
          <p:cNvSpPr/>
          <p:nvPr/>
        </p:nvSpPr>
        <p:spPr>
          <a:xfrm>
            <a:off x="6316980" y="3706165"/>
            <a:ext cx="353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人员变动则流失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21880" y="6473952"/>
            <a:ext cx="41986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12</a:t>
            </a:r>
            <a:endParaRPr lang="en-US" sz="1050" dirty="0"/>
          </a:p>
        </p:txBody>
      </p:sp>
      <p:sp>
        <p:nvSpPr>
          <p:cNvPr id="37" name="ProgBg0"/>
          <p:cNvSpPr/>
          <p:nvPr/>
        </p:nvSpPr>
        <p:spPr>
          <a:xfrm>
            <a:off x="571500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007F86"/>
          </a:solidFill>
        </p:spPr>
      </p:sp>
      <p:sp>
        <p:nvSpPr>
          <p:cNvPr id="38" name="ProgTx0"/>
          <p:cNvSpPr/>
          <p:nvPr/>
        </p:nvSpPr>
        <p:spPr>
          <a:xfrm>
            <a:off x="571500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痛点</a:t>
            </a:r>
            <a:endParaRPr lang="zh-CN"/>
          </a:p>
        </p:txBody>
      </p:sp>
      <p:sp>
        <p:nvSpPr>
          <p:cNvPr id="39" name="ProgBg1"/>
          <p:cNvSpPr/>
          <p:nvPr/>
        </p:nvSpPr>
        <p:spPr>
          <a:xfrm>
            <a:off x="1957159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0" name="ProgTx1"/>
          <p:cNvSpPr/>
          <p:nvPr/>
        </p:nvSpPr>
        <p:spPr>
          <a:xfrm>
            <a:off x="1957159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方案</a:t>
            </a:r>
            <a:endParaRPr lang="zh-CN"/>
          </a:p>
        </p:txBody>
      </p:sp>
      <p:sp>
        <p:nvSpPr>
          <p:cNvPr id="41" name="ProgBg2"/>
          <p:cNvSpPr/>
          <p:nvPr/>
        </p:nvSpPr>
        <p:spPr>
          <a:xfrm>
            <a:off x="3342818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2" name="ProgTx2"/>
          <p:cNvSpPr/>
          <p:nvPr/>
        </p:nvSpPr>
        <p:spPr>
          <a:xfrm>
            <a:off x="3342818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数据语义</a:t>
            </a:r>
            <a:endParaRPr lang="zh-CN"/>
          </a:p>
        </p:txBody>
      </p:sp>
      <p:sp>
        <p:nvSpPr>
          <p:cNvPr id="43" name="ProgBg3"/>
          <p:cNvSpPr/>
          <p:nvPr/>
        </p:nvSpPr>
        <p:spPr>
          <a:xfrm>
            <a:off x="4728477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4" name="ProgTx3"/>
          <p:cNvSpPr/>
          <p:nvPr/>
        </p:nvSpPr>
        <p:spPr>
          <a:xfrm>
            <a:off x="4728477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本体</a:t>
            </a:r>
            <a:endParaRPr lang="zh-CN"/>
          </a:p>
        </p:txBody>
      </p:sp>
      <p:sp>
        <p:nvSpPr>
          <p:cNvPr id="45" name="ProgBg4"/>
          <p:cNvSpPr/>
          <p:nvPr/>
        </p:nvSpPr>
        <p:spPr>
          <a:xfrm>
            <a:off x="6114136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6" name="ProgTx4"/>
          <p:cNvSpPr/>
          <p:nvPr/>
        </p:nvSpPr>
        <p:spPr>
          <a:xfrm>
            <a:off x="6114136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能力入口</a:t>
            </a:r>
            <a:endParaRPr lang="zh-CN"/>
          </a:p>
        </p:txBody>
      </p:sp>
      <p:sp>
        <p:nvSpPr>
          <p:cNvPr id="47" name="ProgBg5"/>
          <p:cNvSpPr/>
          <p:nvPr/>
        </p:nvSpPr>
        <p:spPr>
          <a:xfrm>
            <a:off x="7499795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8" name="ProgTx5"/>
          <p:cNvSpPr/>
          <p:nvPr/>
        </p:nvSpPr>
        <p:spPr>
          <a:xfrm>
            <a:off x="7499795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复盘</a:t>
            </a:r>
            <a:endParaRPr lang="zh-CN"/>
          </a:p>
        </p:txBody>
      </p:sp>
      <p:sp>
        <p:nvSpPr>
          <p:cNvPr id="49" name="ProgBg6"/>
          <p:cNvSpPr/>
          <p:nvPr/>
        </p:nvSpPr>
        <p:spPr>
          <a:xfrm>
            <a:off x="8885453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50" name="ProgTx6"/>
          <p:cNvSpPr/>
          <p:nvPr/>
        </p:nvSpPr>
        <p:spPr>
          <a:xfrm>
            <a:off x="8885453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价值</a:t>
            </a:r>
            <a:endParaRPr lang="zh-CN"/>
          </a:p>
        </p:txBody>
      </p:sp>
      <p:sp>
        <p:nvSpPr>
          <p:cNvPr id="51" name="ProgBg7"/>
          <p:cNvSpPr/>
          <p:nvPr/>
        </p:nvSpPr>
        <p:spPr>
          <a:xfrm>
            <a:off x="10271112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52" name="ProgTx7"/>
          <p:cNvSpPr/>
          <p:nvPr/>
        </p:nvSpPr>
        <p:spPr>
          <a:xfrm>
            <a:off x="10271112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落地</a:t>
            </a:r>
            <a:endParaRPr lang="zh-CN"/>
          </a:p>
        </p:txBody>
      </p:sp>
      <p:sp>
        <p:nvSpPr>
          <p:cNvPr id="54" name="Shape 4"/>
          <p:cNvSpPr/>
          <p:nvPr/>
        </p:nvSpPr>
        <p:spPr>
          <a:xfrm>
            <a:off x="571500" y="1828800"/>
            <a:ext cx="530352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55" name="Shape 10"/>
          <p:cNvSpPr/>
          <p:nvPr/>
        </p:nvSpPr>
        <p:spPr>
          <a:xfrm>
            <a:off x="6316980" y="1828800"/>
            <a:ext cx="5303520" cy="28346"/>
          </a:xfrm>
          <a:prstGeom prst="rect">
            <a:avLst/>
          </a:prstGeom>
          <a:solidFill>
            <a:srgbClr val="007F86"/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605"/>
            <a:ext cx="11049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· 解决思路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1500" y="751637"/>
            <a:ext cx="11049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从数据语义到动态应用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1500" y="1245413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5" name="Text 3"/>
          <p:cNvSpPr/>
          <p:nvPr/>
        </p:nvSpPr>
        <p:spPr>
          <a:xfrm>
            <a:off x="571500" y="1364285"/>
            <a:ext cx="11049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Object Database → Ontology Studio → Agent Factory ∥ ItemGPT → 动态生成应用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1500" y="2377440"/>
            <a:ext cx="255651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7" name="Text 5"/>
          <p:cNvSpPr/>
          <p:nvPr/>
        </p:nvSpPr>
        <p:spPr>
          <a:xfrm>
            <a:off x="571500" y="2560320"/>
            <a:ext cx="255651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Database</a:t>
            </a:r>
            <a:endParaRPr lang="en-US" sz="1200" b="1" dirty="0">
              <a:solidFill>
                <a:srgbClr val="007F86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1500" y="2880360"/>
            <a:ext cx="255651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数据语义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28010" y="2743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2D2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02330" y="2377440"/>
            <a:ext cx="255651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1" name="Text 9"/>
          <p:cNvSpPr/>
          <p:nvPr/>
        </p:nvSpPr>
        <p:spPr>
          <a:xfrm>
            <a:off x="3402330" y="2560320"/>
            <a:ext cx="255651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Ontology Studio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2330" y="2880360"/>
            <a:ext cx="255651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业务本体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58840" y="2743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2D2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33160" y="2377440"/>
            <a:ext cx="255651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5" name="Text 13"/>
          <p:cNvSpPr/>
          <p:nvPr/>
        </p:nvSpPr>
        <p:spPr>
          <a:xfrm>
            <a:off x="6329045" y="2560320"/>
            <a:ext cx="255651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Factory  </a:t>
            </a:r>
            <a:r>
              <a:rPr 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能力</a:t>
            </a:r>
            <a:r>
              <a:rPr lang="en-US" sz="16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200" b="1" dirty="0">
              <a:solidFill>
                <a:srgbClr val="007F86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endParaRPr lang="en-US" sz="1200" b="1" dirty="0">
              <a:solidFill>
                <a:srgbClr val="007F86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ItemGPT  </a:t>
            </a:r>
            <a:r>
              <a:rPr 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入口</a:t>
            </a:r>
            <a:endParaRPr lang="en-US" sz="1600" b="1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789670" y="2743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2D2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063990" y="2377440"/>
            <a:ext cx="255651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9" name="Text 17"/>
          <p:cNvSpPr/>
          <p:nvPr/>
        </p:nvSpPr>
        <p:spPr>
          <a:xfrm>
            <a:off x="9063990" y="2560320"/>
            <a:ext cx="255651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Apps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63990" y="2880360"/>
            <a:ext cx="255651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动态生成应用</a:t>
            </a:r>
            <a:endParaRPr lang="zh-CN" altLang="en-US" sz="1800" b="1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71500" y="3931920"/>
            <a:ext cx="353060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500" y="3931920"/>
            <a:ext cx="353060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23" name="Text 21"/>
          <p:cNvSpPr/>
          <p:nvPr/>
        </p:nvSpPr>
        <p:spPr>
          <a:xfrm>
            <a:off x="736092" y="4114800"/>
            <a:ext cx="32014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 · 字段 · 关系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6092" y="4480560"/>
            <a:ext cx="320141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Object Database：</a:t>
            </a:r>
            <a:r>
              <a:rPr lang="zh-CN" alt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定义数据</a:t>
            </a:r>
            <a:r>
              <a:rPr lang="zh-CN" alt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</a:t>
            </a:r>
            <a:endParaRPr lang="zh-CN" altLang="en-US" sz="1300" dirty="0">
              <a:solidFill>
                <a:srgbClr val="52647B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30700" y="3931920"/>
            <a:ext cx="353060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0700" y="3931920"/>
            <a:ext cx="353060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27" name="Text 25"/>
          <p:cNvSpPr/>
          <p:nvPr/>
        </p:nvSpPr>
        <p:spPr>
          <a:xfrm>
            <a:off x="4495292" y="4114800"/>
            <a:ext cx="32014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</a:t>
            </a:r>
            <a:r>
              <a:rPr 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 ·</a:t>
            </a:r>
            <a:r>
              <a:rPr lang="zh-CN" alt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</a:t>
            </a:r>
            <a:r>
              <a:rPr 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 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95292" y="4480560"/>
            <a:ext cx="320141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Ontology：</a:t>
            </a:r>
            <a:r>
              <a:rPr lang="zh-CN" alt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业务专家构建业务</a:t>
            </a:r>
            <a:r>
              <a:rPr lang="zh-CN" alt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本体</a:t>
            </a:r>
            <a:endParaRPr lang="zh-CN" altLang="en-US" sz="1300" dirty="0">
              <a:solidFill>
                <a:srgbClr val="52647B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089900" y="3931920"/>
            <a:ext cx="353060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89900" y="3931920"/>
            <a:ext cx="353060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31" name="Text 29"/>
          <p:cNvSpPr/>
          <p:nvPr/>
        </p:nvSpPr>
        <p:spPr>
          <a:xfrm>
            <a:off x="8254492" y="4114800"/>
            <a:ext cx="32014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动态生成站点</a:t>
            </a:r>
            <a:r>
              <a:rPr lang="zh-CN" alt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</a:t>
            </a:r>
            <a:endParaRPr lang="zh-CN" altLang="en-US" sz="1500" b="1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54492" y="4480560"/>
            <a:ext cx="320141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dirty="0"/>
              <a:t>基于业务本体生成应用站点</a:t>
            </a:r>
            <a:endParaRPr lang="zh-CN" alt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21880" y="6473952"/>
            <a:ext cx="41986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12</a:t>
            </a:r>
            <a:endParaRPr lang="en-US" sz="1050" dirty="0"/>
          </a:p>
        </p:txBody>
      </p:sp>
      <p:sp>
        <p:nvSpPr>
          <p:cNvPr id="35" name="ProgBg0"/>
          <p:cNvSpPr/>
          <p:nvPr/>
        </p:nvSpPr>
        <p:spPr>
          <a:xfrm>
            <a:off x="571500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6" name="ProgTx0"/>
          <p:cNvSpPr/>
          <p:nvPr/>
        </p:nvSpPr>
        <p:spPr>
          <a:xfrm>
            <a:off x="571500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痛点</a:t>
            </a:r>
            <a:endParaRPr lang="zh-CN"/>
          </a:p>
        </p:txBody>
      </p:sp>
      <p:sp>
        <p:nvSpPr>
          <p:cNvPr id="37" name="ProgBg1"/>
          <p:cNvSpPr/>
          <p:nvPr/>
        </p:nvSpPr>
        <p:spPr>
          <a:xfrm>
            <a:off x="1957159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007F86"/>
          </a:solidFill>
        </p:spPr>
      </p:sp>
      <p:sp>
        <p:nvSpPr>
          <p:cNvPr id="38" name="ProgTx1"/>
          <p:cNvSpPr/>
          <p:nvPr/>
        </p:nvSpPr>
        <p:spPr>
          <a:xfrm>
            <a:off x="1957159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方案</a:t>
            </a:r>
            <a:endParaRPr lang="zh-CN"/>
          </a:p>
        </p:txBody>
      </p:sp>
      <p:sp>
        <p:nvSpPr>
          <p:cNvPr id="39" name="ProgBg2"/>
          <p:cNvSpPr/>
          <p:nvPr/>
        </p:nvSpPr>
        <p:spPr>
          <a:xfrm>
            <a:off x="3342818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0" name="ProgTx2"/>
          <p:cNvSpPr/>
          <p:nvPr/>
        </p:nvSpPr>
        <p:spPr>
          <a:xfrm>
            <a:off x="3342818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数据语义</a:t>
            </a:r>
            <a:endParaRPr lang="zh-CN"/>
          </a:p>
        </p:txBody>
      </p:sp>
      <p:sp>
        <p:nvSpPr>
          <p:cNvPr id="41" name="ProgBg3"/>
          <p:cNvSpPr/>
          <p:nvPr/>
        </p:nvSpPr>
        <p:spPr>
          <a:xfrm>
            <a:off x="4728477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2" name="ProgTx3"/>
          <p:cNvSpPr/>
          <p:nvPr/>
        </p:nvSpPr>
        <p:spPr>
          <a:xfrm>
            <a:off x="4728477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本体</a:t>
            </a:r>
            <a:endParaRPr lang="zh-CN"/>
          </a:p>
        </p:txBody>
      </p:sp>
      <p:sp>
        <p:nvSpPr>
          <p:cNvPr id="43" name="ProgBg4"/>
          <p:cNvSpPr/>
          <p:nvPr/>
        </p:nvSpPr>
        <p:spPr>
          <a:xfrm>
            <a:off x="6114136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4" name="ProgTx4"/>
          <p:cNvSpPr/>
          <p:nvPr/>
        </p:nvSpPr>
        <p:spPr>
          <a:xfrm>
            <a:off x="6114136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能力入口</a:t>
            </a:r>
            <a:endParaRPr lang="zh-CN"/>
          </a:p>
        </p:txBody>
      </p:sp>
      <p:sp>
        <p:nvSpPr>
          <p:cNvPr id="45" name="ProgBg5"/>
          <p:cNvSpPr/>
          <p:nvPr/>
        </p:nvSpPr>
        <p:spPr>
          <a:xfrm>
            <a:off x="7499795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6" name="ProgTx5"/>
          <p:cNvSpPr/>
          <p:nvPr/>
        </p:nvSpPr>
        <p:spPr>
          <a:xfrm>
            <a:off x="7499795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复盘</a:t>
            </a:r>
            <a:endParaRPr lang="zh-CN"/>
          </a:p>
        </p:txBody>
      </p:sp>
      <p:sp>
        <p:nvSpPr>
          <p:cNvPr id="47" name="ProgBg6"/>
          <p:cNvSpPr/>
          <p:nvPr/>
        </p:nvSpPr>
        <p:spPr>
          <a:xfrm>
            <a:off x="8885453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8" name="ProgTx6"/>
          <p:cNvSpPr/>
          <p:nvPr/>
        </p:nvSpPr>
        <p:spPr>
          <a:xfrm>
            <a:off x="8885453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价值</a:t>
            </a:r>
            <a:endParaRPr lang="zh-CN"/>
          </a:p>
        </p:txBody>
      </p:sp>
      <p:sp>
        <p:nvSpPr>
          <p:cNvPr id="49" name="ProgBg7"/>
          <p:cNvSpPr/>
          <p:nvPr/>
        </p:nvSpPr>
        <p:spPr>
          <a:xfrm>
            <a:off x="10271112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50" name="ProgTx7"/>
          <p:cNvSpPr/>
          <p:nvPr/>
        </p:nvSpPr>
        <p:spPr>
          <a:xfrm>
            <a:off x="10271112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落地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605"/>
            <a:ext cx="11049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· Object Database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1500" y="751637"/>
            <a:ext cx="11049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Object Database｜数据语义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1500" y="1245413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5" name="Text 3"/>
          <p:cNvSpPr/>
          <p:nvPr/>
        </p:nvSpPr>
        <p:spPr>
          <a:xfrm>
            <a:off x="571500" y="1364285"/>
            <a:ext cx="11049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/>
              <a:t>将原始异构数据统一拉齐</a:t>
            </a:r>
            <a:r>
              <a:rPr lang="zh-CN" altLang="en-US" sz="1400" dirty="0"/>
              <a:t>语义</a:t>
            </a:r>
            <a:endParaRPr lang="zh-CN" alt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1500" y="1828800"/>
            <a:ext cx="530352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7" name="Text 5"/>
          <p:cNvSpPr/>
          <p:nvPr/>
        </p:nvSpPr>
        <p:spPr>
          <a:xfrm>
            <a:off x="571500" y="196596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RAW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" y="22402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原始表与字段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7432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数据散落在表与字段中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1500" y="31546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尚未形成统一业务含义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" y="35661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难以被业务与 AI 直接引用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16980" y="1828800"/>
            <a:ext cx="530352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3" name="Text 11"/>
          <p:cNvSpPr/>
          <p:nvPr/>
        </p:nvSpPr>
        <p:spPr>
          <a:xfrm>
            <a:off x="6316980" y="196596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SEMANTICS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980" y="22402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可引用的数据语义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16980" y="27432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对表、字段、关系做语义定义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16980" y="31546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供本体与应用引用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16980" y="35661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 </a:t>
            </a:r>
            <a:r>
              <a:rPr lang="zh-CN" alt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原始真实数据</a:t>
            </a: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→ </a:t>
            </a:r>
            <a:r>
              <a:rPr lang="zh-CN" alt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</a:t>
            </a:r>
            <a:r>
              <a:rPr lang="zh-CN" alt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</a:t>
            </a:r>
            <a:endParaRPr lang="zh-CN" altLang="en-US" sz="1300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71500" y="5212080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19" name="Text 17"/>
          <p:cNvSpPr/>
          <p:nvPr/>
        </p:nvSpPr>
        <p:spPr>
          <a:xfrm>
            <a:off x="571500" y="5349240"/>
            <a:ext cx="11049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要点  </a:t>
            </a: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原始散落 → 语义定义 → 供本体与应用引用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21880" y="6473952"/>
            <a:ext cx="41986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12</a:t>
            </a:r>
            <a:endParaRPr lang="en-US" sz="1050" dirty="0"/>
          </a:p>
        </p:txBody>
      </p:sp>
      <p:sp>
        <p:nvSpPr>
          <p:cNvPr id="22" name="ProgBg0"/>
          <p:cNvSpPr/>
          <p:nvPr/>
        </p:nvSpPr>
        <p:spPr>
          <a:xfrm>
            <a:off x="571500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23" name="ProgTx0"/>
          <p:cNvSpPr/>
          <p:nvPr/>
        </p:nvSpPr>
        <p:spPr>
          <a:xfrm>
            <a:off x="571500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痛点</a:t>
            </a:r>
            <a:endParaRPr lang="zh-CN"/>
          </a:p>
        </p:txBody>
      </p:sp>
      <p:sp>
        <p:nvSpPr>
          <p:cNvPr id="24" name="ProgBg1"/>
          <p:cNvSpPr/>
          <p:nvPr/>
        </p:nvSpPr>
        <p:spPr>
          <a:xfrm>
            <a:off x="1957159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25" name="ProgTx1"/>
          <p:cNvSpPr/>
          <p:nvPr/>
        </p:nvSpPr>
        <p:spPr>
          <a:xfrm>
            <a:off x="1957159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方案</a:t>
            </a:r>
            <a:endParaRPr lang="zh-CN"/>
          </a:p>
        </p:txBody>
      </p:sp>
      <p:sp>
        <p:nvSpPr>
          <p:cNvPr id="26" name="ProgBg2"/>
          <p:cNvSpPr/>
          <p:nvPr/>
        </p:nvSpPr>
        <p:spPr>
          <a:xfrm>
            <a:off x="3342818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007F86"/>
          </a:solidFill>
        </p:spPr>
      </p:sp>
      <p:sp>
        <p:nvSpPr>
          <p:cNvPr id="27" name="ProgTx2"/>
          <p:cNvSpPr/>
          <p:nvPr/>
        </p:nvSpPr>
        <p:spPr>
          <a:xfrm>
            <a:off x="3342818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数据语义</a:t>
            </a:r>
            <a:endParaRPr lang="zh-CN"/>
          </a:p>
        </p:txBody>
      </p:sp>
      <p:sp>
        <p:nvSpPr>
          <p:cNvPr id="28" name="ProgBg3"/>
          <p:cNvSpPr/>
          <p:nvPr/>
        </p:nvSpPr>
        <p:spPr>
          <a:xfrm>
            <a:off x="4728477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29" name="ProgTx3"/>
          <p:cNvSpPr/>
          <p:nvPr/>
        </p:nvSpPr>
        <p:spPr>
          <a:xfrm>
            <a:off x="4728477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本体</a:t>
            </a:r>
            <a:endParaRPr lang="zh-CN"/>
          </a:p>
        </p:txBody>
      </p:sp>
      <p:sp>
        <p:nvSpPr>
          <p:cNvPr id="30" name="ProgBg4"/>
          <p:cNvSpPr/>
          <p:nvPr/>
        </p:nvSpPr>
        <p:spPr>
          <a:xfrm>
            <a:off x="6114136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31" name="ProgTx4"/>
          <p:cNvSpPr/>
          <p:nvPr/>
        </p:nvSpPr>
        <p:spPr>
          <a:xfrm>
            <a:off x="6114136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能力入口</a:t>
            </a:r>
            <a:endParaRPr lang="zh-CN"/>
          </a:p>
        </p:txBody>
      </p:sp>
      <p:sp>
        <p:nvSpPr>
          <p:cNvPr id="32" name="ProgBg5"/>
          <p:cNvSpPr/>
          <p:nvPr/>
        </p:nvSpPr>
        <p:spPr>
          <a:xfrm>
            <a:off x="7499795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33" name="ProgTx5"/>
          <p:cNvSpPr/>
          <p:nvPr/>
        </p:nvSpPr>
        <p:spPr>
          <a:xfrm>
            <a:off x="7499795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复盘</a:t>
            </a:r>
            <a:endParaRPr lang="zh-CN"/>
          </a:p>
        </p:txBody>
      </p:sp>
      <p:sp>
        <p:nvSpPr>
          <p:cNvPr id="34" name="ProgBg6"/>
          <p:cNvSpPr/>
          <p:nvPr/>
        </p:nvSpPr>
        <p:spPr>
          <a:xfrm>
            <a:off x="8885453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35" name="ProgTx6"/>
          <p:cNvSpPr/>
          <p:nvPr/>
        </p:nvSpPr>
        <p:spPr>
          <a:xfrm>
            <a:off x="8885453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价值</a:t>
            </a:r>
            <a:endParaRPr lang="zh-CN"/>
          </a:p>
        </p:txBody>
      </p:sp>
      <p:sp>
        <p:nvSpPr>
          <p:cNvPr id="36" name="ProgBg7"/>
          <p:cNvSpPr/>
          <p:nvPr/>
        </p:nvSpPr>
        <p:spPr>
          <a:xfrm>
            <a:off x="10271112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37" name="ProgTx7"/>
          <p:cNvSpPr/>
          <p:nvPr/>
        </p:nvSpPr>
        <p:spPr>
          <a:xfrm>
            <a:off x="10271112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落地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605"/>
            <a:ext cx="11049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· Ontology Studio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1500" y="751637"/>
            <a:ext cx="11049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Ontology Studio｜业务本体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1500" y="1245413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5" name="Text 3"/>
          <p:cNvSpPr/>
          <p:nvPr/>
        </p:nvSpPr>
        <p:spPr>
          <a:xfrm>
            <a:off x="571500" y="1364285"/>
            <a:ext cx="11049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接入 Object Database 的数据语义，由业务专家</a:t>
            </a:r>
            <a:r>
              <a:rPr lang="zh-CN" altLang="en-US" sz="14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构建业务</a:t>
            </a:r>
            <a:r>
              <a:rPr lang="zh-CN" altLang="en-US" sz="14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本体</a:t>
            </a:r>
            <a:endParaRPr lang="zh-CN" altLang="en-US" sz="1400" dirty="0">
              <a:solidFill>
                <a:srgbClr val="52647B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71500" y="1828800"/>
            <a:ext cx="1104900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" y="1828800"/>
            <a:ext cx="73152" cy="841248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8" name="Text 6"/>
          <p:cNvSpPr/>
          <p:nvPr/>
        </p:nvSpPr>
        <p:spPr>
          <a:xfrm>
            <a:off x="845820" y="2029968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68780" y="1975104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1524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数据语义接入</a:t>
            </a:r>
            <a:endParaRPr lang="en-US" altLang="zh-CN" sz="1600" b="1" dirty="0">
              <a:solidFill>
                <a:srgbClr val="1524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68780" y="226771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接入已定义的表、字段、关系语义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" y="2788920"/>
            <a:ext cx="1104900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" y="2788920"/>
            <a:ext cx="73152" cy="841248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3" name="Text 11"/>
          <p:cNvSpPr/>
          <p:nvPr/>
        </p:nvSpPr>
        <p:spPr>
          <a:xfrm>
            <a:off x="845820" y="2990088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68780" y="2935224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1524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结合业务</a:t>
            </a:r>
            <a:r>
              <a:rPr lang="zh-CN" altLang="en-US" sz="1600" b="1" dirty="0">
                <a:solidFill>
                  <a:srgbClr val="1524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资料，业务</a:t>
            </a:r>
            <a:r>
              <a:rPr lang="en-US" sz="1600" b="1" dirty="0">
                <a:solidFill>
                  <a:srgbClr val="1524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专家</a:t>
            </a:r>
            <a:r>
              <a:rPr lang="zh-CN" altLang="en-US" sz="1600" b="1" dirty="0">
                <a:solidFill>
                  <a:srgbClr val="1524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审核</a:t>
            </a:r>
            <a:endParaRPr lang="zh-CN" altLang="en-US" sz="1600" b="1" dirty="0">
              <a:solidFill>
                <a:srgbClr val="1524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668780" y="32278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梳理业务</a:t>
            </a:r>
            <a:r>
              <a:rPr 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规则、</a:t>
            </a:r>
            <a:r>
              <a:rPr lang="zh-CN" alt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</a:t>
            </a:r>
            <a:r>
              <a:rPr 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流程、决策边界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1500" y="3749040"/>
            <a:ext cx="1104900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" y="3749040"/>
            <a:ext cx="73152" cy="841248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8" name="Text 16"/>
          <p:cNvSpPr/>
          <p:nvPr/>
        </p:nvSpPr>
        <p:spPr>
          <a:xfrm>
            <a:off x="845820" y="3950208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68780" y="3895344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1524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业务本体</a:t>
            </a:r>
            <a:r>
              <a:rPr lang="zh-CN" altLang="en-US" sz="1600" b="1" dirty="0">
                <a:solidFill>
                  <a:srgbClr val="1524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构建</a:t>
            </a:r>
            <a:endParaRPr lang="zh-CN" altLang="en-US" sz="1600" b="1" dirty="0">
              <a:solidFill>
                <a:srgbClr val="1524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668780" y="418795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数据与语义</a:t>
            </a:r>
            <a:r>
              <a:rPr lang="zh-CN" alt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绑定，完整构建</a:t>
            </a:r>
            <a:r>
              <a:rPr lang="zh-CN" alt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本体</a:t>
            </a:r>
            <a:endParaRPr lang="zh-CN" altLang="en-US" sz="1300" dirty="0">
              <a:solidFill>
                <a:srgbClr val="52647B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71500" y="4709160"/>
            <a:ext cx="1104900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500" y="4709160"/>
            <a:ext cx="73152" cy="841248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23" name="Text 21"/>
          <p:cNvSpPr/>
          <p:nvPr/>
        </p:nvSpPr>
        <p:spPr>
          <a:xfrm>
            <a:off x="845820" y="4910328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68780" y="4855464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4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可理解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68780" y="514807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对齐后 AI 才有完整业务世界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21880" y="6473952"/>
            <a:ext cx="41986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12</a:t>
            </a:r>
            <a:endParaRPr lang="en-US" sz="1050" dirty="0"/>
          </a:p>
        </p:txBody>
      </p:sp>
      <p:sp>
        <p:nvSpPr>
          <p:cNvPr id="28" name="ProgBg0"/>
          <p:cNvSpPr/>
          <p:nvPr/>
        </p:nvSpPr>
        <p:spPr>
          <a:xfrm>
            <a:off x="571500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29" name="ProgTx0"/>
          <p:cNvSpPr/>
          <p:nvPr/>
        </p:nvSpPr>
        <p:spPr>
          <a:xfrm>
            <a:off x="571500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痛点</a:t>
            </a:r>
            <a:endParaRPr lang="zh-CN"/>
          </a:p>
        </p:txBody>
      </p:sp>
      <p:sp>
        <p:nvSpPr>
          <p:cNvPr id="30" name="ProgBg1"/>
          <p:cNvSpPr/>
          <p:nvPr/>
        </p:nvSpPr>
        <p:spPr>
          <a:xfrm>
            <a:off x="1957159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1" name="ProgTx1"/>
          <p:cNvSpPr/>
          <p:nvPr/>
        </p:nvSpPr>
        <p:spPr>
          <a:xfrm>
            <a:off x="1957159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方案</a:t>
            </a:r>
            <a:endParaRPr lang="zh-CN"/>
          </a:p>
        </p:txBody>
      </p:sp>
      <p:sp>
        <p:nvSpPr>
          <p:cNvPr id="32" name="ProgBg2"/>
          <p:cNvSpPr/>
          <p:nvPr/>
        </p:nvSpPr>
        <p:spPr>
          <a:xfrm>
            <a:off x="3342818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3" name="ProgTx2"/>
          <p:cNvSpPr/>
          <p:nvPr/>
        </p:nvSpPr>
        <p:spPr>
          <a:xfrm>
            <a:off x="3342818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数据语义</a:t>
            </a:r>
            <a:endParaRPr lang="zh-CN"/>
          </a:p>
        </p:txBody>
      </p:sp>
      <p:sp>
        <p:nvSpPr>
          <p:cNvPr id="34" name="ProgBg3"/>
          <p:cNvSpPr/>
          <p:nvPr/>
        </p:nvSpPr>
        <p:spPr>
          <a:xfrm>
            <a:off x="4728477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007F86"/>
          </a:solidFill>
        </p:spPr>
      </p:sp>
      <p:sp>
        <p:nvSpPr>
          <p:cNvPr id="35" name="ProgTx3"/>
          <p:cNvSpPr/>
          <p:nvPr/>
        </p:nvSpPr>
        <p:spPr>
          <a:xfrm>
            <a:off x="4728477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本体</a:t>
            </a:r>
            <a:endParaRPr lang="zh-CN"/>
          </a:p>
        </p:txBody>
      </p:sp>
      <p:sp>
        <p:nvSpPr>
          <p:cNvPr id="36" name="ProgBg4"/>
          <p:cNvSpPr/>
          <p:nvPr/>
        </p:nvSpPr>
        <p:spPr>
          <a:xfrm>
            <a:off x="6114136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37" name="ProgTx4"/>
          <p:cNvSpPr/>
          <p:nvPr/>
        </p:nvSpPr>
        <p:spPr>
          <a:xfrm>
            <a:off x="6114136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能力入口</a:t>
            </a:r>
            <a:endParaRPr lang="zh-CN"/>
          </a:p>
        </p:txBody>
      </p:sp>
      <p:sp>
        <p:nvSpPr>
          <p:cNvPr id="38" name="ProgBg5"/>
          <p:cNvSpPr/>
          <p:nvPr/>
        </p:nvSpPr>
        <p:spPr>
          <a:xfrm>
            <a:off x="7499795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39" name="ProgTx5"/>
          <p:cNvSpPr/>
          <p:nvPr/>
        </p:nvSpPr>
        <p:spPr>
          <a:xfrm>
            <a:off x="7499795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复盘</a:t>
            </a:r>
            <a:endParaRPr lang="zh-CN"/>
          </a:p>
        </p:txBody>
      </p:sp>
      <p:sp>
        <p:nvSpPr>
          <p:cNvPr id="40" name="ProgBg6"/>
          <p:cNvSpPr/>
          <p:nvPr/>
        </p:nvSpPr>
        <p:spPr>
          <a:xfrm>
            <a:off x="8885453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1" name="ProgTx6"/>
          <p:cNvSpPr/>
          <p:nvPr/>
        </p:nvSpPr>
        <p:spPr>
          <a:xfrm>
            <a:off x="8885453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价值</a:t>
            </a:r>
            <a:endParaRPr lang="zh-CN"/>
          </a:p>
        </p:txBody>
      </p:sp>
      <p:sp>
        <p:nvSpPr>
          <p:cNvPr id="42" name="ProgBg7"/>
          <p:cNvSpPr/>
          <p:nvPr/>
        </p:nvSpPr>
        <p:spPr>
          <a:xfrm>
            <a:off x="10271112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3" name="ProgTx7"/>
          <p:cNvSpPr/>
          <p:nvPr/>
        </p:nvSpPr>
        <p:spPr>
          <a:xfrm>
            <a:off x="10271112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落地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605"/>
            <a:ext cx="11049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· Agent Factory｜ItemGPT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1500" y="751637"/>
            <a:ext cx="11049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Factory｜ItemGPT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1500" y="1245413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5" name="Text 3"/>
          <p:cNvSpPr/>
          <p:nvPr/>
        </p:nvSpPr>
        <p:spPr>
          <a:xfrm>
            <a:off x="571500" y="1364285"/>
            <a:ext cx="11049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/>
              <a:t>同一套本体生成应用</a:t>
            </a:r>
            <a:r>
              <a:rPr lang="en-US" altLang="zh-CN" sz="1400" dirty="0"/>
              <a:t>agent</a:t>
            </a:r>
            <a:r>
              <a:rPr lang="zh-CN" altLang="en-US" sz="1400" dirty="0"/>
              <a:t>、分析页面、受控</a:t>
            </a:r>
            <a:r>
              <a:rPr lang="en-US" altLang="zh-CN" sz="1400" dirty="0"/>
              <a:t>Action</a:t>
            </a:r>
            <a:endParaRPr lang="en-US" altLang="zh-CN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2022653"/>
            <a:ext cx="3530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AGENT FACTORY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" y="2296973"/>
            <a:ext cx="353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基于本体构建应用</a:t>
            </a:r>
            <a:r>
              <a:rPr lang="en-US" altLang="zh-CN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altLang="zh-CN" sz="1600" b="1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71500" y="3119933"/>
            <a:ext cx="3530600" cy="9144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10" name="Text 8"/>
          <p:cNvSpPr/>
          <p:nvPr/>
        </p:nvSpPr>
        <p:spPr>
          <a:xfrm>
            <a:off x="571500" y="2735885"/>
            <a:ext cx="353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 Ontology 业务本体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" y="3622853"/>
            <a:ext cx="3530600" cy="9144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12" name="Text 10"/>
          <p:cNvSpPr/>
          <p:nvPr/>
        </p:nvSpPr>
        <p:spPr>
          <a:xfrm>
            <a:off x="571500" y="3238805"/>
            <a:ext cx="353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封装可调用 Agent 能力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4125773"/>
            <a:ext cx="3530600" cy="9144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14" name="Text 12"/>
          <p:cNvSpPr/>
          <p:nvPr/>
        </p:nvSpPr>
        <p:spPr>
          <a:xfrm>
            <a:off x="571500" y="3741725"/>
            <a:ext cx="353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供场景按需编排调用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16980" y="1995348"/>
            <a:ext cx="3530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ITEMGPT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6980" y="2269668"/>
            <a:ext cx="353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动态生成应用</a:t>
            </a:r>
            <a:r>
              <a:rPr lang="zh-CN" altLang="en-US" sz="16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站点</a:t>
            </a:r>
            <a:endParaRPr lang="zh-CN" altLang="en-US" sz="1600" b="1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16980" y="3092628"/>
            <a:ext cx="3530600" cy="9144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19" name="Text 17"/>
          <p:cNvSpPr/>
          <p:nvPr/>
        </p:nvSpPr>
        <p:spPr>
          <a:xfrm>
            <a:off x="6316980" y="2708580"/>
            <a:ext cx="353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基于本体 + </a:t>
            </a:r>
            <a:r>
              <a:rPr lang="zh-CN" alt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用户诉求</a:t>
            </a: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16980" y="3595548"/>
            <a:ext cx="3530600" cy="9144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21" name="Text 19"/>
          <p:cNvSpPr/>
          <p:nvPr/>
        </p:nvSpPr>
        <p:spPr>
          <a:xfrm>
            <a:off x="6316980" y="3211500"/>
            <a:ext cx="353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生成分析页与业务表单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16980" y="4098468"/>
            <a:ext cx="3530600" cy="9144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23" name="Text 21"/>
          <p:cNvSpPr/>
          <p:nvPr/>
        </p:nvSpPr>
        <p:spPr>
          <a:xfrm>
            <a:off x="6316980" y="3714420"/>
            <a:ext cx="353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作为人机交互入口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71500" y="5806440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34" name="Text 32"/>
          <p:cNvSpPr/>
          <p:nvPr/>
        </p:nvSpPr>
        <p:spPr>
          <a:xfrm>
            <a:off x="571500" y="5897880"/>
            <a:ext cx="11049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要点  </a:t>
            </a:r>
            <a:r>
              <a:rPr lang="en-US" sz="13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Factory = 能力；ItemGPT = 入口；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21880" y="6473952"/>
            <a:ext cx="41986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12</a:t>
            </a:r>
            <a:endParaRPr lang="en-US" sz="1050" dirty="0"/>
          </a:p>
        </p:txBody>
      </p:sp>
      <p:sp>
        <p:nvSpPr>
          <p:cNvPr id="37" name="ProgBg0"/>
          <p:cNvSpPr/>
          <p:nvPr/>
        </p:nvSpPr>
        <p:spPr>
          <a:xfrm>
            <a:off x="571500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8" name="ProgTx0"/>
          <p:cNvSpPr/>
          <p:nvPr/>
        </p:nvSpPr>
        <p:spPr>
          <a:xfrm>
            <a:off x="571500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痛点</a:t>
            </a:r>
            <a:endParaRPr lang="zh-CN"/>
          </a:p>
        </p:txBody>
      </p:sp>
      <p:sp>
        <p:nvSpPr>
          <p:cNvPr id="39" name="ProgBg1"/>
          <p:cNvSpPr/>
          <p:nvPr/>
        </p:nvSpPr>
        <p:spPr>
          <a:xfrm>
            <a:off x="1957159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40" name="ProgTx1"/>
          <p:cNvSpPr/>
          <p:nvPr/>
        </p:nvSpPr>
        <p:spPr>
          <a:xfrm>
            <a:off x="1957159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方案</a:t>
            </a:r>
            <a:endParaRPr lang="zh-CN"/>
          </a:p>
        </p:txBody>
      </p:sp>
      <p:sp>
        <p:nvSpPr>
          <p:cNvPr id="41" name="ProgBg2"/>
          <p:cNvSpPr/>
          <p:nvPr/>
        </p:nvSpPr>
        <p:spPr>
          <a:xfrm>
            <a:off x="3342818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42" name="ProgTx2"/>
          <p:cNvSpPr/>
          <p:nvPr/>
        </p:nvSpPr>
        <p:spPr>
          <a:xfrm>
            <a:off x="3342818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数据语义</a:t>
            </a:r>
            <a:endParaRPr lang="zh-CN"/>
          </a:p>
        </p:txBody>
      </p:sp>
      <p:sp>
        <p:nvSpPr>
          <p:cNvPr id="43" name="ProgBg3"/>
          <p:cNvSpPr/>
          <p:nvPr/>
        </p:nvSpPr>
        <p:spPr>
          <a:xfrm>
            <a:off x="4728477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44" name="ProgTx3"/>
          <p:cNvSpPr/>
          <p:nvPr/>
        </p:nvSpPr>
        <p:spPr>
          <a:xfrm>
            <a:off x="4728477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本体</a:t>
            </a:r>
            <a:endParaRPr lang="zh-CN"/>
          </a:p>
        </p:txBody>
      </p:sp>
      <p:sp>
        <p:nvSpPr>
          <p:cNvPr id="45" name="ProgBg4"/>
          <p:cNvSpPr/>
          <p:nvPr/>
        </p:nvSpPr>
        <p:spPr>
          <a:xfrm>
            <a:off x="6114136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007F86"/>
          </a:solidFill>
        </p:spPr>
      </p:sp>
      <p:sp>
        <p:nvSpPr>
          <p:cNvPr id="46" name="ProgTx4"/>
          <p:cNvSpPr/>
          <p:nvPr/>
        </p:nvSpPr>
        <p:spPr>
          <a:xfrm>
            <a:off x="6114136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能力入口</a:t>
            </a:r>
            <a:endParaRPr lang="zh-CN"/>
          </a:p>
        </p:txBody>
      </p:sp>
      <p:sp>
        <p:nvSpPr>
          <p:cNvPr id="47" name="ProgBg5"/>
          <p:cNvSpPr/>
          <p:nvPr/>
        </p:nvSpPr>
        <p:spPr>
          <a:xfrm>
            <a:off x="7499795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8" name="ProgTx5"/>
          <p:cNvSpPr/>
          <p:nvPr/>
        </p:nvSpPr>
        <p:spPr>
          <a:xfrm>
            <a:off x="7499795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复盘</a:t>
            </a:r>
            <a:endParaRPr lang="zh-CN"/>
          </a:p>
        </p:txBody>
      </p:sp>
      <p:sp>
        <p:nvSpPr>
          <p:cNvPr id="49" name="ProgBg6"/>
          <p:cNvSpPr/>
          <p:nvPr/>
        </p:nvSpPr>
        <p:spPr>
          <a:xfrm>
            <a:off x="8885453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50" name="ProgTx6"/>
          <p:cNvSpPr/>
          <p:nvPr/>
        </p:nvSpPr>
        <p:spPr>
          <a:xfrm>
            <a:off x="8885453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价值</a:t>
            </a:r>
            <a:endParaRPr lang="zh-CN"/>
          </a:p>
        </p:txBody>
      </p:sp>
      <p:sp>
        <p:nvSpPr>
          <p:cNvPr id="51" name="ProgBg7"/>
          <p:cNvSpPr/>
          <p:nvPr/>
        </p:nvSpPr>
        <p:spPr>
          <a:xfrm>
            <a:off x="10271112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52" name="ProgTx7"/>
          <p:cNvSpPr/>
          <p:nvPr/>
        </p:nvSpPr>
        <p:spPr>
          <a:xfrm>
            <a:off x="10271112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落地</a:t>
            </a:r>
            <a:endParaRPr lang="zh-CN"/>
          </a:p>
        </p:txBody>
      </p:sp>
      <p:sp>
        <p:nvSpPr>
          <p:cNvPr id="35" name="Shape 4"/>
          <p:cNvSpPr/>
          <p:nvPr/>
        </p:nvSpPr>
        <p:spPr>
          <a:xfrm>
            <a:off x="571500" y="1828800"/>
            <a:ext cx="530352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53" name="Shape 10"/>
          <p:cNvSpPr/>
          <p:nvPr/>
        </p:nvSpPr>
        <p:spPr>
          <a:xfrm>
            <a:off x="6316980" y="1828800"/>
            <a:ext cx="5303520" cy="28346"/>
          </a:xfrm>
          <a:prstGeom prst="rect">
            <a:avLst/>
          </a:prstGeom>
          <a:solidFill>
            <a:srgbClr val="007F86"/>
          </a:solid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95605"/>
            <a:ext cx="11049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· 复盘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71500" y="751637"/>
            <a:ext cx="11049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方案复盘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1500" y="1245413"/>
            <a:ext cx="11049000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5" name="Text 3"/>
          <p:cNvSpPr/>
          <p:nvPr/>
        </p:nvSpPr>
        <p:spPr>
          <a:xfrm>
            <a:off x="571500" y="1364285"/>
            <a:ext cx="11049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从「人盲目调价、系统只记录」到「系统辅助人定价 / 报价」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1500" y="2377440"/>
            <a:ext cx="255651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7" name="Text 5"/>
          <p:cNvSpPr/>
          <p:nvPr/>
        </p:nvSpPr>
        <p:spPr>
          <a:xfrm>
            <a:off x="571500" y="2560320"/>
            <a:ext cx="255651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Database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" y="2880360"/>
            <a:ext cx="255651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数据语义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28010" y="2743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2D2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02330" y="2377440"/>
            <a:ext cx="255651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1" name="Text 9"/>
          <p:cNvSpPr/>
          <p:nvPr/>
        </p:nvSpPr>
        <p:spPr>
          <a:xfrm>
            <a:off x="3402330" y="2560320"/>
            <a:ext cx="255651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Ontology Studio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2330" y="2880360"/>
            <a:ext cx="255651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业务本体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58840" y="2743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2D2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33160" y="2377440"/>
            <a:ext cx="255651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5" name="Text 13"/>
          <p:cNvSpPr/>
          <p:nvPr/>
        </p:nvSpPr>
        <p:spPr>
          <a:xfrm>
            <a:off x="6233160" y="2560320"/>
            <a:ext cx="255651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Factory ∥ ItemGPT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3160" y="2880360"/>
            <a:ext cx="255651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 ∥ 入口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89670" y="2743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2D2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063990" y="2377440"/>
            <a:ext cx="255651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9" name="Text 17"/>
          <p:cNvSpPr/>
          <p:nvPr/>
        </p:nvSpPr>
        <p:spPr>
          <a:xfrm>
            <a:off x="9063990" y="2560320"/>
            <a:ext cx="255651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Apps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63990" y="2880360"/>
            <a:ext cx="255651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动态生成应用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71500" y="3931920"/>
            <a:ext cx="353060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500" y="3931920"/>
            <a:ext cx="353060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23" name="Text 21"/>
          <p:cNvSpPr/>
          <p:nvPr/>
        </p:nvSpPr>
        <p:spPr>
          <a:xfrm>
            <a:off x="736092" y="4114800"/>
            <a:ext cx="32014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价值转向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6092" y="4480560"/>
            <a:ext cx="320141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人盲目调价、系统只记录 → 系统辅助人定价 / 报价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30700" y="3931920"/>
            <a:ext cx="353060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0700" y="3931920"/>
            <a:ext cx="353060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27" name="Text 25"/>
          <p:cNvSpPr/>
          <p:nvPr/>
        </p:nvSpPr>
        <p:spPr>
          <a:xfrm>
            <a:off x="4495292" y="4114800"/>
            <a:ext cx="32014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同一本体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95292" y="4480560"/>
            <a:ext cx="320141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分析页与业务表单共用同一本体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89900" y="3931920"/>
            <a:ext cx="353060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89900" y="3931920"/>
            <a:ext cx="353060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31" name="Text 29"/>
          <p:cNvSpPr/>
          <p:nvPr/>
        </p:nvSpPr>
        <p:spPr>
          <a:xfrm>
            <a:off x="8254492" y="4114800"/>
            <a:ext cx="32014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可回溯 · 可演进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54492" y="4480560"/>
            <a:ext cx="320141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四站链路可回溯、可演进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21880" y="6473952"/>
            <a:ext cx="41986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12</a:t>
            </a:r>
            <a:endParaRPr lang="en-US" sz="1050" dirty="0"/>
          </a:p>
        </p:txBody>
      </p:sp>
      <p:sp>
        <p:nvSpPr>
          <p:cNvPr id="35" name="ProgBg0"/>
          <p:cNvSpPr/>
          <p:nvPr/>
        </p:nvSpPr>
        <p:spPr>
          <a:xfrm>
            <a:off x="571500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6" name="ProgTx0"/>
          <p:cNvSpPr/>
          <p:nvPr/>
        </p:nvSpPr>
        <p:spPr>
          <a:xfrm>
            <a:off x="571500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痛点</a:t>
            </a:r>
            <a:endParaRPr lang="zh-CN"/>
          </a:p>
        </p:txBody>
      </p:sp>
      <p:sp>
        <p:nvSpPr>
          <p:cNvPr id="37" name="ProgBg1"/>
          <p:cNvSpPr/>
          <p:nvPr/>
        </p:nvSpPr>
        <p:spPr>
          <a:xfrm>
            <a:off x="1957159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8" name="ProgTx1"/>
          <p:cNvSpPr/>
          <p:nvPr/>
        </p:nvSpPr>
        <p:spPr>
          <a:xfrm>
            <a:off x="1957159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方案</a:t>
            </a:r>
            <a:endParaRPr lang="zh-CN"/>
          </a:p>
        </p:txBody>
      </p:sp>
      <p:sp>
        <p:nvSpPr>
          <p:cNvPr id="39" name="ProgBg2"/>
          <p:cNvSpPr/>
          <p:nvPr/>
        </p:nvSpPr>
        <p:spPr>
          <a:xfrm>
            <a:off x="3342818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40" name="ProgTx2"/>
          <p:cNvSpPr/>
          <p:nvPr/>
        </p:nvSpPr>
        <p:spPr>
          <a:xfrm>
            <a:off x="3342818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数据语义</a:t>
            </a:r>
            <a:endParaRPr lang="zh-CN"/>
          </a:p>
        </p:txBody>
      </p:sp>
      <p:sp>
        <p:nvSpPr>
          <p:cNvPr id="41" name="ProgBg3"/>
          <p:cNvSpPr/>
          <p:nvPr/>
        </p:nvSpPr>
        <p:spPr>
          <a:xfrm>
            <a:off x="4728477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42" name="ProgTx3"/>
          <p:cNvSpPr/>
          <p:nvPr/>
        </p:nvSpPr>
        <p:spPr>
          <a:xfrm>
            <a:off x="4728477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本体</a:t>
            </a:r>
            <a:endParaRPr lang="zh-CN"/>
          </a:p>
        </p:txBody>
      </p:sp>
      <p:sp>
        <p:nvSpPr>
          <p:cNvPr id="43" name="ProgBg4"/>
          <p:cNvSpPr/>
          <p:nvPr/>
        </p:nvSpPr>
        <p:spPr>
          <a:xfrm>
            <a:off x="6114136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44" name="ProgTx4"/>
          <p:cNvSpPr/>
          <p:nvPr/>
        </p:nvSpPr>
        <p:spPr>
          <a:xfrm>
            <a:off x="6114136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能力入口</a:t>
            </a:r>
            <a:endParaRPr lang="zh-CN"/>
          </a:p>
        </p:txBody>
      </p:sp>
      <p:sp>
        <p:nvSpPr>
          <p:cNvPr id="45" name="ProgBg5"/>
          <p:cNvSpPr/>
          <p:nvPr/>
        </p:nvSpPr>
        <p:spPr>
          <a:xfrm>
            <a:off x="7499795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007F86"/>
          </a:solidFill>
        </p:spPr>
      </p:sp>
      <p:sp>
        <p:nvSpPr>
          <p:cNvPr id="46" name="ProgTx5"/>
          <p:cNvSpPr/>
          <p:nvPr/>
        </p:nvSpPr>
        <p:spPr>
          <a:xfrm>
            <a:off x="7499795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复盘</a:t>
            </a:r>
            <a:endParaRPr lang="zh-CN"/>
          </a:p>
        </p:txBody>
      </p:sp>
      <p:sp>
        <p:nvSpPr>
          <p:cNvPr id="47" name="ProgBg6"/>
          <p:cNvSpPr/>
          <p:nvPr/>
        </p:nvSpPr>
        <p:spPr>
          <a:xfrm>
            <a:off x="8885453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48" name="ProgTx6"/>
          <p:cNvSpPr/>
          <p:nvPr/>
        </p:nvSpPr>
        <p:spPr>
          <a:xfrm>
            <a:off x="8885453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价值</a:t>
            </a:r>
            <a:endParaRPr lang="zh-CN"/>
          </a:p>
        </p:txBody>
      </p:sp>
      <p:sp>
        <p:nvSpPr>
          <p:cNvPr id="49" name="ProgBg7"/>
          <p:cNvSpPr/>
          <p:nvPr/>
        </p:nvSpPr>
        <p:spPr>
          <a:xfrm>
            <a:off x="10271112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50" name="ProgTx7"/>
          <p:cNvSpPr/>
          <p:nvPr/>
        </p:nvSpPr>
        <p:spPr>
          <a:xfrm>
            <a:off x="10271112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落地</a:t>
            </a:r>
            <a:endParaRPr 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"/>
          <p:cNvSpPr/>
          <p:nvPr/>
        </p:nvSpPr>
        <p:spPr>
          <a:xfrm>
            <a:off x="571500" y="475488"/>
            <a:ext cx="1104869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08 · 价值</a:t>
            </a:r>
            <a:endParaRPr lang="zh-CN"/>
          </a:p>
        </p:txBody>
      </p:sp>
      <p:sp>
        <p:nvSpPr>
          <p:cNvPr id="21" name="Title"/>
          <p:cNvSpPr/>
          <p:nvPr/>
        </p:nvSpPr>
        <p:spPr>
          <a:xfrm>
            <a:off x="571500" y="694944"/>
            <a:ext cx="1104869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Rate Sheet </a:t>
            </a:r>
            <a:r>
              <a:rPr lang="zh-CN" altLang="en-US" sz="2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转型</a:t>
            </a:r>
            <a:r>
              <a:rPr lang="en-US" altLang="zh-CN" sz="2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AI native </a:t>
            </a:r>
            <a:r>
              <a:rPr lang="zh-CN" sz="2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商业价值</a:t>
            </a:r>
            <a:endParaRPr lang="zh-CN"/>
          </a:p>
        </p:txBody>
      </p:sp>
      <p:sp>
        <p:nvSpPr>
          <p:cNvPr id="22" name="Rule"/>
          <p:cNvSpPr/>
          <p:nvPr/>
        </p:nvSpPr>
        <p:spPr>
          <a:xfrm>
            <a:off x="571500" y="1097280"/>
            <a:ext cx="11048695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23" name="Lead"/>
          <p:cNvSpPr/>
          <p:nvPr/>
        </p:nvSpPr>
        <p:spPr>
          <a:xfrm>
            <a:off x="571500" y="1308735"/>
            <a:ext cx="11049000" cy="238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UNIS 建立这套系统，不只是为了更快地生成 Quote，而是为了让每一个报价都有数据依据、价格标准和可评估的商业价值。</a:t>
            </a:r>
            <a:endParaRPr lang="zh-CN"/>
          </a:p>
        </p:txBody>
      </p:sp>
      <p:sp>
        <p:nvSpPr>
          <p:cNvPr id="24" name="RowBg0"/>
          <p:cNvSpPr/>
          <p:nvPr/>
        </p:nvSpPr>
        <p:spPr>
          <a:xfrm>
            <a:off x="571500" y="1783080"/>
            <a:ext cx="11048695" cy="502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25" name="RowAcc0"/>
          <p:cNvSpPr/>
          <p:nvPr/>
        </p:nvSpPr>
        <p:spPr>
          <a:xfrm>
            <a:off x="571500" y="1783080"/>
            <a:ext cx="73152" cy="50292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26" name="RowNum0"/>
          <p:cNvSpPr/>
          <p:nvPr/>
        </p:nvSpPr>
        <p:spPr>
          <a:xfrm>
            <a:off x="749808" y="1837944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01</a:t>
            </a:r>
            <a:endParaRPr lang="zh-CN"/>
          </a:p>
        </p:txBody>
      </p:sp>
      <p:sp>
        <p:nvSpPr>
          <p:cNvPr id="27" name="RowTitle0"/>
          <p:cNvSpPr/>
          <p:nvPr/>
        </p:nvSpPr>
        <p:spPr>
          <a:xfrm>
            <a:off x="1325880" y="1810512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提高报价效率</a:t>
            </a:r>
            <a:endParaRPr lang="zh-CN"/>
          </a:p>
        </p:txBody>
      </p:sp>
      <p:sp>
        <p:nvSpPr>
          <p:cNvPr id="28" name="RowBody0"/>
          <p:cNvSpPr/>
          <p:nvPr/>
        </p:nvSpPr>
        <p:spPr>
          <a:xfrm>
            <a:off x="1325880" y="2002536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5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减少人工整理 Ratesheet、匹配 Billing Item 和计算报价的工作量。</a:t>
            </a:r>
            <a:endParaRPr lang="zh-CN"/>
          </a:p>
        </p:txBody>
      </p:sp>
      <p:sp>
        <p:nvSpPr>
          <p:cNvPr id="29" name="RowBg1"/>
          <p:cNvSpPr/>
          <p:nvPr/>
        </p:nvSpPr>
        <p:spPr>
          <a:xfrm>
            <a:off x="571500" y="2322576"/>
            <a:ext cx="11048695" cy="502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30" name="RowAcc1"/>
          <p:cNvSpPr/>
          <p:nvPr/>
        </p:nvSpPr>
        <p:spPr>
          <a:xfrm>
            <a:off x="571500" y="2322576"/>
            <a:ext cx="73152" cy="50292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31" name="RowNum1"/>
          <p:cNvSpPr/>
          <p:nvPr/>
        </p:nvSpPr>
        <p:spPr>
          <a:xfrm>
            <a:off x="749808" y="237744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02</a:t>
            </a:r>
            <a:endParaRPr lang="zh-CN"/>
          </a:p>
        </p:txBody>
      </p:sp>
      <p:sp>
        <p:nvSpPr>
          <p:cNvPr id="32" name="RowTitle1"/>
          <p:cNvSpPr/>
          <p:nvPr/>
        </p:nvSpPr>
        <p:spPr>
          <a:xfrm>
            <a:off x="1325880" y="2350008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统一价格标准</a:t>
            </a:r>
            <a:endParaRPr lang="zh-CN"/>
          </a:p>
        </p:txBody>
      </p:sp>
      <p:sp>
        <p:nvSpPr>
          <p:cNvPr id="33" name="RowBody1"/>
          <p:cNvSpPr/>
          <p:nvPr/>
        </p:nvSpPr>
        <p:spPr>
          <a:xfrm>
            <a:off x="1325880" y="2542032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5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建立 UNIS Standard Ratesheet，规范不同 Customer、Facility 的收费项目、UOM 和定价逻辑。</a:t>
            </a:r>
            <a:endParaRPr lang="zh-CN"/>
          </a:p>
        </p:txBody>
      </p:sp>
      <p:sp>
        <p:nvSpPr>
          <p:cNvPr id="34" name="RowBg2"/>
          <p:cNvSpPr/>
          <p:nvPr/>
        </p:nvSpPr>
        <p:spPr>
          <a:xfrm>
            <a:off x="571500" y="2862072"/>
            <a:ext cx="11048695" cy="502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35" name="RowAcc2"/>
          <p:cNvSpPr/>
          <p:nvPr/>
        </p:nvSpPr>
        <p:spPr>
          <a:xfrm>
            <a:off x="571500" y="2862072"/>
            <a:ext cx="73152" cy="50292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36" name="RowNum2"/>
          <p:cNvSpPr/>
          <p:nvPr/>
        </p:nvSpPr>
        <p:spPr>
          <a:xfrm>
            <a:off x="749808" y="2916936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03</a:t>
            </a:r>
            <a:endParaRPr lang="zh-CN"/>
          </a:p>
        </p:txBody>
      </p:sp>
      <p:sp>
        <p:nvSpPr>
          <p:cNvPr id="37" name="RowTitle2"/>
          <p:cNvSpPr/>
          <p:nvPr/>
        </p:nvSpPr>
        <p:spPr>
          <a:xfrm>
            <a:off x="1325880" y="2889504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提升 Revenue 和 Profitability</a:t>
            </a:r>
            <a:endParaRPr lang="zh-CN"/>
          </a:p>
        </p:txBody>
      </p:sp>
      <p:sp>
        <p:nvSpPr>
          <p:cNvPr id="38" name="RowBody2"/>
          <p:cNvSpPr/>
          <p:nvPr/>
        </p:nvSpPr>
        <p:spPr>
          <a:xfrm>
            <a:off x="1325880" y="3081528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5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识别低价、漏收费及价格优化机会，提高客户和服务项目的盈利能力。</a:t>
            </a:r>
            <a:endParaRPr lang="zh-CN"/>
          </a:p>
        </p:txBody>
      </p:sp>
      <p:sp>
        <p:nvSpPr>
          <p:cNvPr id="39" name="RowBg3"/>
          <p:cNvSpPr/>
          <p:nvPr/>
        </p:nvSpPr>
        <p:spPr>
          <a:xfrm>
            <a:off x="571500" y="3401568"/>
            <a:ext cx="11048695" cy="502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40" name="RowAcc3"/>
          <p:cNvSpPr/>
          <p:nvPr/>
        </p:nvSpPr>
        <p:spPr>
          <a:xfrm>
            <a:off x="571500" y="3401568"/>
            <a:ext cx="73152" cy="50292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41" name="RowNum3"/>
          <p:cNvSpPr/>
          <p:nvPr/>
        </p:nvSpPr>
        <p:spPr>
          <a:xfrm>
            <a:off x="749808" y="3456432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04</a:t>
            </a:r>
            <a:endParaRPr lang="zh-CN"/>
          </a:p>
        </p:txBody>
      </p:sp>
      <p:sp>
        <p:nvSpPr>
          <p:cNvPr id="42" name="RowTitle3"/>
          <p:cNvSpPr/>
          <p:nvPr/>
        </p:nvSpPr>
        <p:spPr>
          <a:xfrm>
            <a:off x="1325880" y="3429000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支持智能定价决策</a:t>
            </a:r>
            <a:endParaRPr lang="zh-CN"/>
          </a:p>
        </p:txBody>
      </p:sp>
      <p:sp>
        <p:nvSpPr>
          <p:cNvPr id="43" name="RowBody3"/>
          <p:cNvSpPr/>
          <p:nvPr/>
        </p:nvSpPr>
        <p:spPr>
          <a:xfrm>
            <a:off x="1325880" y="3621024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5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结合历史 Invoice、Customer Level、Item Usage 和行业价格，提供有数据依据的价格建议。</a:t>
            </a:r>
            <a:endParaRPr lang="zh-CN"/>
          </a:p>
        </p:txBody>
      </p:sp>
      <p:sp>
        <p:nvSpPr>
          <p:cNvPr id="44" name="RowBg4"/>
          <p:cNvSpPr/>
          <p:nvPr/>
        </p:nvSpPr>
        <p:spPr>
          <a:xfrm>
            <a:off x="571500" y="3941064"/>
            <a:ext cx="11048695" cy="502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45" name="RowAcc4"/>
          <p:cNvSpPr/>
          <p:nvPr/>
        </p:nvSpPr>
        <p:spPr>
          <a:xfrm>
            <a:off x="571500" y="3941064"/>
            <a:ext cx="73152" cy="50292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46" name="RowNum4"/>
          <p:cNvSpPr/>
          <p:nvPr/>
        </p:nvSpPr>
        <p:spPr>
          <a:xfrm>
            <a:off x="749808" y="3995928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05</a:t>
            </a:r>
            <a:endParaRPr lang="zh-CN"/>
          </a:p>
        </p:txBody>
      </p:sp>
      <p:sp>
        <p:nvSpPr>
          <p:cNvPr id="47" name="RowTitle4"/>
          <p:cNvSpPr/>
          <p:nvPr/>
        </p:nvSpPr>
        <p:spPr>
          <a:xfrm>
            <a:off x="1325880" y="3968496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降低报价风险</a:t>
            </a:r>
            <a:endParaRPr lang="zh-CN"/>
          </a:p>
        </p:txBody>
      </p:sp>
      <p:sp>
        <p:nvSpPr>
          <p:cNvPr id="48" name="RowBody4"/>
          <p:cNvSpPr/>
          <p:nvPr/>
        </p:nvSpPr>
        <p:spPr>
          <a:xfrm>
            <a:off x="1325880" y="4160520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5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通过 Simulator 评估价格调整对历史 Revenue 和利润的影响，避免盲目调价。</a:t>
            </a:r>
            <a:endParaRPr lang="zh-CN"/>
          </a:p>
        </p:txBody>
      </p:sp>
      <p:sp>
        <p:nvSpPr>
          <p:cNvPr id="49" name="RowBg5"/>
          <p:cNvSpPr/>
          <p:nvPr/>
        </p:nvSpPr>
        <p:spPr>
          <a:xfrm>
            <a:off x="571500" y="4480560"/>
            <a:ext cx="11048695" cy="502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50" name="RowAcc5"/>
          <p:cNvSpPr/>
          <p:nvPr/>
        </p:nvSpPr>
        <p:spPr>
          <a:xfrm>
            <a:off x="571500" y="4480560"/>
            <a:ext cx="73152" cy="50292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51" name="RowNum5"/>
          <p:cNvSpPr/>
          <p:nvPr/>
        </p:nvSpPr>
        <p:spPr>
          <a:xfrm>
            <a:off x="749808" y="4535424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06</a:t>
            </a:r>
            <a:endParaRPr lang="zh-CN"/>
          </a:p>
        </p:txBody>
      </p:sp>
      <p:sp>
        <p:nvSpPr>
          <p:cNvPr id="52" name="RowTitle5"/>
          <p:cNvSpPr/>
          <p:nvPr/>
        </p:nvSpPr>
        <p:spPr>
          <a:xfrm>
            <a:off x="1325880" y="4507992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实现 Quote-to-Billing 自动化</a:t>
            </a:r>
            <a:endParaRPr lang="zh-CN"/>
          </a:p>
        </p:txBody>
      </p:sp>
      <p:sp>
        <p:nvSpPr>
          <p:cNvPr id="53" name="RowBody5"/>
          <p:cNvSpPr/>
          <p:nvPr/>
        </p:nvSpPr>
        <p:spPr>
          <a:xfrm>
            <a:off x="1325880" y="4700016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5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将最终批准的 Quotation 与 BNP Billing 配置关联，减少人工录入错误及报价与实际计费不一致的问题。</a:t>
            </a:r>
            <a:endParaRPr lang="zh-CN"/>
          </a:p>
        </p:txBody>
      </p:sp>
      <p:sp>
        <p:nvSpPr>
          <p:cNvPr id="54" name="RowBg6"/>
          <p:cNvSpPr/>
          <p:nvPr/>
        </p:nvSpPr>
        <p:spPr>
          <a:xfrm>
            <a:off x="571500" y="5020056"/>
            <a:ext cx="11048695" cy="502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BE2"/>
            </a:solidFill>
            <a:prstDash val="solid"/>
          </a:ln>
        </p:spPr>
      </p:sp>
      <p:sp>
        <p:nvSpPr>
          <p:cNvPr id="55" name="RowAcc6"/>
          <p:cNvSpPr/>
          <p:nvPr/>
        </p:nvSpPr>
        <p:spPr>
          <a:xfrm>
            <a:off x="571500" y="5020056"/>
            <a:ext cx="73152" cy="50292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56" name="RowNum6"/>
          <p:cNvSpPr/>
          <p:nvPr/>
        </p:nvSpPr>
        <p:spPr>
          <a:xfrm>
            <a:off x="749808" y="507492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6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07</a:t>
            </a:r>
            <a:endParaRPr lang="zh-CN"/>
          </a:p>
        </p:txBody>
      </p:sp>
      <p:sp>
        <p:nvSpPr>
          <p:cNvPr id="57" name="RowTitle6"/>
          <p:cNvSpPr/>
          <p:nvPr/>
        </p:nvSpPr>
        <p:spPr>
          <a:xfrm>
            <a:off x="1325880" y="5047488"/>
            <a:ext cx="9966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提高业务可扩展性</a:t>
            </a:r>
            <a:endParaRPr lang="zh-CN"/>
          </a:p>
        </p:txBody>
      </p:sp>
      <p:sp>
        <p:nvSpPr>
          <p:cNvPr id="58" name="RowBody6"/>
          <p:cNvSpPr/>
          <p:nvPr/>
        </p:nvSpPr>
        <p:spPr>
          <a:xfrm>
            <a:off x="1325880" y="5239512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05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支持未来更多服务类型、客户及 Facility 的标准化报价管理。</a:t>
            </a:r>
            <a:endParaRPr lang="zh-CN"/>
          </a:p>
        </p:txBody>
      </p:sp>
      <p:sp>
        <p:nvSpPr>
          <p:cNvPr id="59" name="FinalBg"/>
          <p:cNvSpPr/>
          <p:nvPr/>
        </p:nvSpPr>
        <p:spPr>
          <a:xfrm>
            <a:off x="571500" y="5669280"/>
            <a:ext cx="11048695" cy="502920"/>
          </a:xfrm>
          <a:prstGeom prst="roundRect">
            <a:avLst>
              <a:gd name="adj" fmla="val 4348"/>
            </a:avLst>
          </a:prstGeom>
          <a:solidFill>
            <a:srgbClr val="E8F6F5"/>
          </a:solidFill>
          <a:ln w="12700">
            <a:solidFill>
              <a:srgbClr val="72D2CA"/>
            </a:solidFill>
            <a:prstDash val="solid"/>
          </a:ln>
        </p:spPr>
      </p:sp>
      <p:sp>
        <p:nvSpPr>
          <p:cNvPr id="60" name="FinalTx"/>
          <p:cNvSpPr/>
          <p:nvPr/>
        </p:nvSpPr>
        <p:spPr>
          <a:xfrm>
            <a:off x="731520" y="5724144"/>
            <a:ext cx="1069848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200" b="1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最终价值  </a:t>
            </a:r>
            <a:r>
              <a:rPr lang="zh-CN" sz="11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提高报价效率、优化收入与利润、统一定价标准，并实现从价格分析、智能报价到 BNP Billing 的完整业务闭环。</a:t>
            </a:r>
            <a:endParaRPr lang="zh-CN"/>
          </a:p>
        </p:txBody>
      </p:sp>
      <p:sp>
        <p:nvSpPr>
          <p:cNvPr id="61" name="Footer"/>
          <p:cNvSpPr/>
          <p:nvPr/>
        </p:nvSpPr>
        <p:spPr>
          <a:xfrm>
            <a:off x="7422185" y="6473952"/>
            <a:ext cx="419892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CN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10 / 1</a:t>
            </a:r>
            <a:r>
              <a:rPr lang="en-US" altLang="zh-CN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2</a:t>
            </a:r>
            <a:endParaRPr lang="en-US" altLang="zh-CN" sz="1050" dirty="0">
              <a:solidFill>
                <a:srgbClr val="52647B"/>
              </a:solidFill>
              <a:latin typeface="Inter" pitchFamily="34" charset="0"/>
              <a:ea typeface="Inter" pitchFamily="34" charset="-122"/>
              <a:cs typeface="Inter" pitchFamily="34" charset="-122"/>
            </a:endParaRPr>
          </a:p>
        </p:txBody>
      </p:sp>
      <p:sp>
        <p:nvSpPr>
          <p:cNvPr id="62" name="ProgBg0"/>
          <p:cNvSpPr/>
          <p:nvPr/>
        </p:nvSpPr>
        <p:spPr>
          <a:xfrm>
            <a:off x="571500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63" name="ProgTx0"/>
          <p:cNvSpPr/>
          <p:nvPr/>
        </p:nvSpPr>
        <p:spPr>
          <a:xfrm>
            <a:off x="571500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痛点</a:t>
            </a:r>
            <a:endParaRPr lang="zh-CN"/>
          </a:p>
        </p:txBody>
      </p:sp>
      <p:sp>
        <p:nvSpPr>
          <p:cNvPr id="64" name="ProgBg1"/>
          <p:cNvSpPr/>
          <p:nvPr/>
        </p:nvSpPr>
        <p:spPr>
          <a:xfrm>
            <a:off x="1957159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65" name="ProgTx1"/>
          <p:cNvSpPr/>
          <p:nvPr/>
        </p:nvSpPr>
        <p:spPr>
          <a:xfrm>
            <a:off x="1957159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方案</a:t>
            </a:r>
            <a:endParaRPr lang="zh-CN"/>
          </a:p>
        </p:txBody>
      </p:sp>
      <p:sp>
        <p:nvSpPr>
          <p:cNvPr id="66" name="ProgBg2"/>
          <p:cNvSpPr/>
          <p:nvPr/>
        </p:nvSpPr>
        <p:spPr>
          <a:xfrm>
            <a:off x="3342818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67" name="ProgTx2"/>
          <p:cNvSpPr/>
          <p:nvPr/>
        </p:nvSpPr>
        <p:spPr>
          <a:xfrm>
            <a:off x="3342818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数据语义</a:t>
            </a:r>
            <a:endParaRPr lang="zh-CN"/>
          </a:p>
        </p:txBody>
      </p:sp>
      <p:sp>
        <p:nvSpPr>
          <p:cNvPr id="68" name="ProgBg3"/>
          <p:cNvSpPr/>
          <p:nvPr/>
        </p:nvSpPr>
        <p:spPr>
          <a:xfrm>
            <a:off x="4728477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69" name="ProgTx3"/>
          <p:cNvSpPr/>
          <p:nvPr/>
        </p:nvSpPr>
        <p:spPr>
          <a:xfrm>
            <a:off x="4728477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本体</a:t>
            </a:r>
            <a:endParaRPr lang="zh-CN"/>
          </a:p>
        </p:txBody>
      </p:sp>
      <p:sp>
        <p:nvSpPr>
          <p:cNvPr id="70" name="ProgBg4"/>
          <p:cNvSpPr/>
          <p:nvPr/>
        </p:nvSpPr>
        <p:spPr>
          <a:xfrm>
            <a:off x="6114136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71" name="ProgTx4"/>
          <p:cNvSpPr/>
          <p:nvPr/>
        </p:nvSpPr>
        <p:spPr>
          <a:xfrm>
            <a:off x="6114136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能力入口</a:t>
            </a:r>
            <a:endParaRPr lang="zh-CN"/>
          </a:p>
        </p:txBody>
      </p:sp>
      <p:sp>
        <p:nvSpPr>
          <p:cNvPr id="72" name="ProgBg5"/>
          <p:cNvSpPr/>
          <p:nvPr/>
        </p:nvSpPr>
        <p:spPr>
          <a:xfrm>
            <a:off x="7499795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73" name="ProgTx5"/>
          <p:cNvSpPr/>
          <p:nvPr/>
        </p:nvSpPr>
        <p:spPr>
          <a:xfrm>
            <a:off x="7499795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复盘</a:t>
            </a:r>
            <a:endParaRPr lang="zh-CN"/>
          </a:p>
        </p:txBody>
      </p:sp>
      <p:sp>
        <p:nvSpPr>
          <p:cNvPr id="74" name="ProgBg6"/>
          <p:cNvSpPr/>
          <p:nvPr/>
        </p:nvSpPr>
        <p:spPr>
          <a:xfrm>
            <a:off x="8885453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007F86"/>
          </a:solidFill>
        </p:spPr>
      </p:sp>
      <p:sp>
        <p:nvSpPr>
          <p:cNvPr id="75" name="ProgTx6"/>
          <p:cNvSpPr/>
          <p:nvPr/>
        </p:nvSpPr>
        <p:spPr>
          <a:xfrm>
            <a:off x="8885453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价值</a:t>
            </a:r>
            <a:endParaRPr lang="zh-CN"/>
          </a:p>
        </p:txBody>
      </p:sp>
      <p:sp>
        <p:nvSpPr>
          <p:cNvPr id="76" name="ProgBg7"/>
          <p:cNvSpPr/>
          <p:nvPr/>
        </p:nvSpPr>
        <p:spPr>
          <a:xfrm>
            <a:off x="10271112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EEF0F3"/>
          </a:solidFill>
        </p:spPr>
      </p:sp>
      <p:sp>
        <p:nvSpPr>
          <p:cNvPr id="77" name="ProgTx7"/>
          <p:cNvSpPr/>
          <p:nvPr/>
        </p:nvSpPr>
        <p:spPr>
          <a:xfrm>
            <a:off x="10271112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94A3B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落地</a:t>
            </a:r>
            <a:endParaRPr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71500" y="475488"/>
            <a:ext cx="11048695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09 · 合作</a:t>
            </a:r>
            <a:r>
              <a:rPr lang="zh-CN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落地</a:t>
            </a:r>
            <a:endParaRPr lang="zh-CN" sz="1100" dirty="0">
              <a:solidFill>
                <a:srgbClr val="52647B"/>
              </a:solidFill>
              <a:latin typeface="Noto Sans CJK SC" pitchFamily="34" charset="0"/>
              <a:ea typeface="Noto Sans CJK SC" pitchFamily="34" charset="-122"/>
              <a:cs typeface="Noto Sans CJK SC" pitchFamily="34" charset="-122"/>
            </a:endParaRPr>
          </a:p>
        </p:txBody>
      </p:sp>
      <p:sp>
        <p:nvSpPr>
          <p:cNvPr id="3" name="Title"/>
          <p:cNvSpPr/>
          <p:nvPr/>
        </p:nvSpPr>
        <p:spPr>
          <a:xfrm>
            <a:off x="571500" y="713232"/>
            <a:ext cx="11048695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2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职责边界和验收</a:t>
            </a:r>
            <a:r>
              <a:rPr lang="zh-CN" altLang="en-US" sz="2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基线</a:t>
            </a:r>
            <a:endParaRPr lang="zh-CN" altLang="en-US" sz="2200" b="1" dirty="0">
              <a:solidFill>
                <a:srgbClr val="152439"/>
              </a:solidFill>
              <a:latin typeface="Noto Sans CJK SC" pitchFamily="34" charset="0"/>
              <a:ea typeface="Noto Sans CJK SC" pitchFamily="34" charset="-122"/>
              <a:cs typeface="Noto Sans CJK SC" pitchFamily="34" charset="-122"/>
            </a:endParaRPr>
          </a:p>
        </p:txBody>
      </p:sp>
      <p:sp>
        <p:nvSpPr>
          <p:cNvPr id="4" name="Rule"/>
          <p:cNvSpPr/>
          <p:nvPr/>
        </p:nvSpPr>
        <p:spPr>
          <a:xfrm>
            <a:off x="571500" y="1133856"/>
            <a:ext cx="11048695" cy="10973"/>
          </a:xfrm>
          <a:prstGeom prst="rect">
            <a:avLst/>
          </a:prstGeom>
          <a:solidFill>
            <a:srgbClr val="152439"/>
          </a:solidFill>
        </p:spPr>
      </p:sp>
      <p:sp>
        <p:nvSpPr>
          <p:cNvPr id="6" name="LBar"/>
          <p:cNvSpPr/>
          <p:nvPr/>
        </p:nvSpPr>
        <p:spPr>
          <a:xfrm>
            <a:off x="571500" y="1737360"/>
            <a:ext cx="539496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7" name="LHead"/>
          <p:cNvSpPr/>
          <p:nvPr/>
        </p:nvSpPr>
        <p:spPr>
          <a:xfrm>
            <a:off x="571500" y="1810512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1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建议职责边界</a:t>
            </a:r>
            <a:endParaRPr lang="zh-CN"/>
          </a:p>
        </p:txBody>
      </p:sp>
      <p:sp>
        <p:nvSpPr>
          <p:cNvPr id="8" name="Party"/>
          <p:cNvSpPr/>
          <p:nvPr/>
        </p:nvSpPr>
        <p:spPr>
          <a:xfrm>
            <a:off x="571500" y="2121408"/>
            <a:ext cx="53949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ISS Biz (team)</a:t>
            </a:r>
            <a:endParaRPr lang="zh-CN"/>
          </a:p>
        </p:txBody>
      </p:sp>
      <p:sp>
        <p:nvSpPr>
          <p:cNvPr id="9" name="Role"/>
          <p:cNvSpPr/>
          <p:nvPr/>
        </p:nvSpPr>
        <p:spPr>
          <a:xfrm>
            <a:off x="571500" y="2340864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场景、规则、数据定义、专家确认、验收与价值验证。</a:t>
            </a:r>
            <a:endParaRPr lang="zh-CN"/>
          </a:p>
        </p:txBody>
      </p:sp>
      <p:sp>
        <p:nvSpPr>
          <p:cNvPr id="10" name="Party"/>
          <p:cNvSpPr/>
          <p:nvPr/>
        </p:nvSpPr>
        <p:spPr>
          <a:xfrm>
            <a:off x="571500" y="2779776"/>
            <a:ext cx="53949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ITEM</a:t>
            </a:r>
            <a:endParaRPr lang="zh-CN"/>
          </a:p>
        </p:txBody>
      </p:sp>
      <p:sp>
        <p:nvSpPr>
          <p:cNvPr id="11" name="Role"/>
          <p:cNvSpPr/>
          <p:nvPr/>
        </p:nvSpPr>
        <p:spPr>
          <a:xfrm>
            <a:off x="571500" y="299923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与 COO AI Team/Hollis 紧密共同开发；实现页面、表单、测试和交付。</a:t>
            </a:r>
            <a:endParaRPr lang="zh-CN"/>
          </a:p>
        </p:txBody>
      </p:sp>
      <p:sp>
        <p:nvSpPr>
          <p:cNvPr id="12" name="Party"/>
          <p:cNvSpPr/>
          <p:nvPr/>
        </p:nvSpPr>
        <p:spPr>
          <a:xfrm>
            <a:off x="571500" y="3438144"/>
            <a:ext cx="53949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2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COO AI Team / DT</a:t>
            </a:r>
            <a:endParaRPr lang="zh-CN"/>
          </a:p>
        </p:txBody>
      </p:sp>
      <p:sp>
        <p:nvSpPr>
          <p:cNvPr id="13" name="Role"/>
          <p:cNvSpPr/>
          <p:nvPr/>
        </p:nvSpPr>
        <p:spPr>
          <a:xfrm>
            <a:off x="571500" y="3657600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已有成果与方法支撑；数据、代码、软件、接口等按需支撑。</a:t>
            </a:r>
            <a:endParaRPr lang="zh-CN"/>
          </a:p>
        </p:txBody>
      </p:sp>
      <p:sp>
        <p:nvSpPr>
          <p:cNvPr id="15" name="RBar"/>
          <p:cNvSpPr/>
          <p:nvPr/>
        </p:nvSpPr>
        <p:spPr>
          <a:xfrm>
            <a:off x="6309360" y="1737360"/>
            <a:ext cx="5303520" cy="28346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6" name="RHead"/>
          <p:cNvSpPr/>
          <p:nvPr/>
        </p:nvSpPr>
        <p:spPr>
          <a:xfrm>
            <a:off x="6309360" y="1810512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100" b="1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验收基线</a:t>
            </a:r>
            <a:endParaRPr lang="zh-CN"/>
          </a:p>
        </p:txBody>
      </p:sp>
      <p:sp>
        <p:nvSpPr>
          <p:cNvPr id="17" name="Base"/>
          <p:cNvSpPr/>
          <p:nvPr/>
        </p:nvSpPr>
        <p:spPr>
          <a:xfrm>
            <a:off x="6309360" y="2224913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1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分母：</a:t>
            </a:r>
            <a:r>
              <a:rPr lang="zh-CN" sz="11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确定</a:t>
            </a:r>
            <a:r>
              <a:rPr lang="zh-CN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样本</a:t>
            </a:r>
            <a:r>
              <a:rPr lang="zh-CN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集合与业务边界。</a:t>
            </a:r>
            <a:endParaRPr lang="zh-CN"/>
          </a:p>
        </p:txBody>
      </p:sp>
      <p:sp>
        <p:nvSpPr>
          <p:cNvPr id="18" name="Base"/>
          <p:cNvSpPr/>
          <p:nvPr/>
        </p:nvSpPr>
        <p:spPr>
          <a:xfrm>
            <a:off x="6317615" y="2663317"/>
            <a:ext cx="5303520" cy="328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1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周期：</a:t>
            </a:r>
            <a:r>
              <a:rPr lang="zh-CN" sz="11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约定</a:t>
            </a:r>
            <a:r>
              <a:rPr lang="zh-CN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运营周期。</a:t>
            </a:r>
            <a:endParaRPr lang="zh-CN"/>
          </a:p>
        </p:txBody>
      </p:sp>
      <p:sp>
        <p:nvSpPr>
          <p:cNvPr id="20" name="Base"/>
          <p:cNvSpPr/>
          <p:nvPr/>
        </p:nvSpPr>
        <p:spPr>
          <a:xfrm>
            <a:off x="6309360" y="3101467"/>
            <a:ext cx="5303520" cy="328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1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错误级别：</a:t>
            </a:r>
            <a:r>
              <a:rPr lang="zh-CN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语义、规则/计算、权限/流程、数据质量、结果记录。</a:t>
            </a:r>
            <a:endParaRPr lang="zh-CN"/>
          </a:p>
        </p:txBody>
      </p:sp>
      <p:sp>
        <p:nvSpPr>
          <p:cNvPr id="23" name="DiscRule"/>
          <p:cNvSpPr/>
          <p:nvPr/>
        </p:nvSpPr>
        <p:spPr>
          <a:xfrm>
            <a:off x="571500" y="5806440"/>
            <a:ext cx="11048695" cy="10973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24" name="Disc"/>
          <p:cNvSpPr/>
          <p:nvPr/>
        </p:nvSpPr>
        <p:spPr>
          <a:xfrm>
            <a:off x="571500" y="5897880"/>
            <a:ext cx="11048695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200" b="1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讨论焦点  </a:t>
            </a:r>
            <a:r>
              <a:rPr lang="zh-CN" sz="1200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谁是业务 Owner、专家审核人、验收人和运营维护人？首轮分母与周期是什么？</a:t>
            </a:r>
            <a:endParaRPr lang="zh-CN"/>
          </a:p>
        </p:txBody>
      </p:sp>
      <p:sp>
        <p:nvSpPr>
          <p:cNvPr id="25" name="ProgBg0"/>
          <p:cNvSpPr/>
          <p:nvPr/>
        </p:nvSpPr>
        <p:spPr>
          <a:xfrm>
            <a:off x="571500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26" name="ProgTx0"/>
          <p:cNvSpPr/>
          <p:nvPr/>
        </p:nvSpPr>
        <p:spPr>
          <a:xfrm>
            <a:off x="571500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痛点</a:t>
            </a:r>
            <a:endParaRPr lang="zh-CN"/>
          </a:p>
        </p:txBody>
      </p:sp>
      <p:sp>
        <p:nvSpPr>
          <p:cNvPr id="27" name="ProgBg1"/>
          <p:cNvSpPr/>
          <p:nvPr/>
        </p:nvSpPr>
        <p:spPr>
          <a:xfrm>
            <a:off x="1957159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28" name="ProgTx1"/>
          <p:cNvSpPr/>
          <p:nvPr/>
        </p:nvSpPr>
        <p:spPr>
          <a:xfrm>
            <a:off x="1957159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方案</a:t>
            </a:r>
            <a:endParaRPr lang="zh-CN"/>
          </a:p>
        </p:txBody>
      </p:sp>
      <p:sp>
        <p:nvSpPr>
          <p:cNvPr id="29" name="ProgBg2"/>
          <p:cNvSpPr/>
          <p:nvPr/>
        </p:nvSpPr>
        <p:spPr>
          <a:xfrm>
            <a:off x="3342818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0" name="ProgTx2"/>
          <p:cNvSpPr/>
          <p:nvPr/>
        </p:nvSpPr>
        <p:spPr>
          <a:xfrm>
            <a:off x="3342818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数据语义</a:t>
            </a:r>
            <a:endParaRPr lang="zh-CN"/>
          </a:p>
        </p:txBody>
      </p:sp>
      <p:sp>
        <p:nvSpPr>
          <p:cNvPr id="31" name="ProgBg3"/>
          <p:cNvSpPr/>
          <p:nvPr/>
        </p:nvSpPr>
        <p:spPr>
          <a:xfrm>
            <a:off x="4728477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2" name="ProgTx3"/>
          <p:cNvSpPr/>
          <p:nvPr/>
        </p:nvSpPr>
        <p:spPr>
          <a:xfrm>
            <a:off x="4728477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本体</a:t>
            </a:r>
            <a:endParaRPr lang="zh-CN"/>
          </a:p>
        </p:txBody>
      </p:sp>
      <p:sp>
        <p:nvSpPr>
          <p:cNvPr id="33" name="ProgBg4"/>
          <p:cNvSpPr/>
          <p:nvPr/>
        </p:nvSpPr>
        <p:spPr>
          <a:xfrm>
            <a:off x="6114136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4" name="ProgTx4"/>
          <p:cNvSpPr/>
          <p:nvPr/>
        </p:nvSpPr>
        <p:spPr>
          <a:xfrm>
            <a:off x="6114136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能力入口</a:t>
            </a:r>
            <a:endParaRPr lang="zh-CN"/>
          </a:p>
        </p:txBody>
      </p:sp>
      <p:sp>
        <p:nvSpPr>
          <p:cNvPr id="35" name="ProgBg5"/>
          <p:cNvSpPr/>
          <p:nvPr/>
        </p:nvSpPr>
        <p:spPr>
          <a:xfrm>
            <a:off x="7499795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6" name="ProgTx5"/>
          <p:cNvSpPr/>
          <p:nvPr/>
        </p:nvSpPr>
        <p:spPr>
          <a:xfrm>
            <a:off x="7499795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复盘</a:t>
            </a:r>
            <a:endParaRPr lang="zh-CN"/>
          </a:p>
        </p:txBody>
      </p:sp>
      <p:sp>
        <p:nvSpPr>
          <p:cNvPr id="37" name="ProgBg6"/>
          <p:cNvSpPr/>
          <p:nvPr/>
        </p:nvSpPr>
        <p:spPr>
          <a:xfrm>
            <a:off x="8885453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D8F3F0"/>
          </a:solidFill>
        </p:spPr>
      </p:sp>
      <p:sp>
        <p:nvSpPr>
          <p:cNvPr id="38" name="ProgTx6"/>
          <p:cNvSpPr/>
          <p:nvPr/>
        </p:nvSpPr>
        <p:spPr>
          <a:xfrm>
            <a:off x="8885453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dirty="0">
                <a:solidFill>
                  <a:srgbClr val="007F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价值</a:t>
            </a:r>
            <a:endParaRPr lang="zh-CN"/>
          </a:p>
        </p:txBody>
      </p:sp>
      <p:sp>
        <p:nvSpPr>
          <p:cNvPr id="39" name="ProgBg7"/>
          <p:cNvSpPr/>
          <p:nvPr/>
        </p:nvSpPr>
        <p:spPr>
          <a:xfrm>
            <a:off x="10271112" y="164592"/>
            <a:ext cx="1349083" cy="237744"/>
          </a:xfrm>
          <a:prstGeom prst="roundRect">
            <a:avLst>
              <a:gd name="adj" fmla="val 50000"/>
            </a:avLst>
          </a:prstGeom>
          <a:solidFill>
            <a:srgbClr val="007F86"/>
          </a:solidFill>
        </p:spPr>
      </p:sp>
      <p:sp>
        <p:nvSpPr>
          <p:cNvPr id="40" name="ProgTx7"/>
          <p:cNvSpPr/>
          <p:nvPr/>
        </p:nvSpPr>
        <p:spPr>
          <a:xfrm>
            <a:off x="10271112" y="164592"/>
            <a:ext cx="1349083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2"/>
              </a:rPr>
              <a:t>落地</a:t>
            </a:r>
            <a:endParaRPr lang="zh-CN"/>
          </a:p>
        </p:txBody>
      </p:sp>
      <p:sp>
        <p:nvSpPr>
          <p:cNvPr id="41" name="Footer"/>
          <p:cNvSpPr/>
          <p:nvPr/>
        </p:nvSpPr>
        <p:spPr>
          <a:xfrm>
            <a:off x="7422185" y="6473952"/>
            <a:ext cx="4198925" cy="2560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zh-CN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11 / 1</a:t>
            </a:r>
            <a:r>
              <a:rPr lang="en-US" altLang="zh-CN" sz="105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2"/>
              </a:rPr>
              <a:t>2</a:t>
            </a:r>
            <a:endParaRPr lang="en-US" altLang="zh-CN" sz="1050" dirty="0">
              <a:solidFill>
                <a:srgbClr val="52647B"/>
              </a:solidFill>
              <a:latin typeface="Inter" pitchFamily="34" charset="0"/>
              <a:ea typeface="Inter" pitchFamily="34" charset="-122"/>
              <a:cs typeface="Inter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ccentBar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F86"/>
          </a:solidFill>
        </p:spPr>
      </p:sp>
      <p:sp>
        <p:nvSpPr>
          <p:cNvPr id="101" name="Rule"/>
          <p:cNvSpPr/>
          <p:nvPr/>
        </p:nvSpPr>
        <p:spPr>
          <a:xfrm>
            <a:off x="571500" y="2926080"/>
            <a:ext cx="11049000" cy="10973"/>
          </a:xfrm>
          <a:prstGeom prst="rect">
            <a:avLst/>
          </a:prstGeom>
          <a:solidFill>
            <a:srgbClr val="D5DBE2"/>
          </a:solidFill>
        </p:spPr>
      </p:sp>
      <p:sp>
        <p:nvSpPr>
          <p:cNvPr id="3" name="Text 1"/>
          <p:cNvSpPr/>
          <p:nvPr/>
        </p:nvSpPr>
        <p:spPr>
          <a:xfrm>
            <a:off x="571500" y="1828800"/>
            <a:ext cx="1104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4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UNIS Rate &amp; Quote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95290" y="2194560"/>
            <a:ext cx="107061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5243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谢谢</a:t>
            </a:r>
            <a:endParaRPr lang="en-US" sz="4000" dirty="0"/>
          </a:p>
        </p:txBody>
      </p:sp>
      <p:pic>
        <p:nvPicPr>
          <p:cNvPr id="11" name="Picture 10" descr="item-logo-fullcolor-blacktx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520" y="3246120"/>
            <a:ext cx="3108960" cy="1225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2639</Words>
  <Application>WPS 演示</Application>
  <PresentationFormat>On-screen Show (16:9)</PresentationFormat>
  <Paragraphs>466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3" baseType="lpstr">
      <vt:lpstr>Arial</vt:lpstr>
      <vt:lpstr>宋体</vt:lpstr>
      <vt:lpstr>Wingdings</vt:lpstr>
      <vt:lpstr>Inter</vt:lpstr>
      <vt:lpstr>苹方-简</vt:lpstr>
      <vt:lpstr>Inter</vt:lpstr>
      <vt:lpstr>Inter</vt:lpstr>
      <vt:lpstr>Noto Sans CJK SC</vt:lpstr>
      <vt:lpstr>Noto Sans CJK SC</vt:lpstr>
      <vt:lpstr>Noto Sans CJK SC</vt:lpstr>
      <vt:lpstr>微软雅黑</vt:lpstr>
      <vt:lpstr>方正雅意黑 GB18030L2</vt:lpstr>
      <vt:lpstr>宋体</vt:lpstr>
      <vt:lpstr>Arial Unicode MS</vt:lpstr>
      <vt:lpstr>等线</vt:lpstr>
      <vt:lpstr>汉仪中等线KW</vt:lpstr>
      <vt:lpstr>Calibri</vt:lpstr>
      <vt:lpstr>Helvetica Neue</vt:lpstr>
      <vt:lpstr>汉仪书宋二KW</vt:lpstr>
      <vt:lpstr>华文仿宋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R5 Day Family — UNIS Rate &amp; Quote</dc:title>
  <dc:creator>ITEM × COO AI</dc:creator>
  <dc:subject>PptxGenJS Presentation</dc:subject>
  <cp:lastModifiedBy>青杰</cp:lastModifiedBy>
  <cp:revision>11</cp:revision>
  <dcterms:created xsi:type="dcterms:W3CDTF">2026-10-29T03:23:17Z</dcterms:created>
  <dcterms:modified xsi:type="dcterms:W3CDTF">2026-10-29T03:23:17Z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31E58F2F17373CAF13B8E26AE22B1A3F_43</vt:lpwstr>
  </property>
</Properties>
</file>