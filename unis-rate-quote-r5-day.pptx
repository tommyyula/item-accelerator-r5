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mp4" ContentType="video/mp4"/>
  <Override PartName="/ppt/media/image2.jpg" ContentType="image/jpe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60" r:id="rId6"/>
    <p:sldId id="257" r:id="rId7"/>
    <p:sldId id="259" r:id="rId8"/>
    <p:sldId id="265" r:id="rId9"/>
    <p:sldId id="258" r:id="rId10"/>
    <p:sldId id="263" r:id="rId11"/>
    <p:sldId id="264" r:id="rId12"/>
    <p:sldId id="266" r:id="rId13"/>
    <p:sldId id="267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封面：UNIS Rate &amp; Quote。副题：补齐业务知识与系统数据之间的 gap。Sources: R5 D1.2.3 UNIS Rate &amp; Quote; https://youtu.be/TBX9CNtFQ6k; prior client speech narrative.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概念对齐：BNP（Bill and Pay）是开票与付款业务域，关联收费、结算、账单、支付、开票；Rate Sheet 是 BNP 子场景，管费率如何定、条件如何适用。Sources: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业务痛点：1) 系统开发跟不上业务增长与变化；2) 业务知识留在人脑难沉淀，人员变动则流失；3) AI Native 需要理解业务与系统数据，二者之间存在 gap。Sources: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解决思路：Object Database（数据语义）→ Ontology Studio（业务本体）→ Agent Factory ∥ ItemGPT → 动态生成应用。Agent Factory 提供能力调用；ItemGPT 为运行/呈现入口，二者并列。Sources: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Ontology Studio｜业务本体：接入 Object Database 的数据语义；业务专家补规则、流程、例外与决策边界；语义与本体对齐后，AI 才有完整业务世界可理解。Sources: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Ontology Studio｜业务本体：接入 Object Database 的数据语义；业务专家补规则、流程、例外与决策边界；语义与本体对齐后，AI 才有完整业务世界可理解。Sources: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
<Relationship Id="rId3" Type="http://schemas.openxmlformats.org/officeDocument/2006/relationships/notesSlide" Target="../notesSlides/notesSlide2.xml"/>
<Relationship Id="rId2" Type="http://schemas.openxmlformats.org/officeDocument/2006/relationships/slideLayout" Target="../slideLayouts/slideLayout1.xml"/>
<Relationship Id="rId4" Type="http://schemas.openxmlformats.org/officeDocument/2006/relationships/video" Target="../media/media1.mp4"/>
<Relationship Id="rId5" Type="http://schemas.microsoft.com/office/2007/relationships/media" Target="../media/media1.mp4"/>
<Relationship Id="rId6" Type="http://schemas.openxmlformats.org/officeDocument/2006/relationships/image" Target="../media/image2.jpg"/>
</Relationships>
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" name="Text 1"/>
          <p:cNvSpPr/>
          <p:nvPr/>
        </p:nvSpPr>
        <p:spPr>
          <a:xfrm>
            <a:off x="571500" y="1463040"/>
            <a:ext cx="1104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× COO AI Team × ISS Biz T</a:t>
            </a:r>
            <a:r>
              <a:rPr lang="en-US" altLang="zh-CN" sz="110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eam</a:t>
            </a:r>
            <a:endParaRPr lang="en-US" altLang="zh-CN" sz="110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500" y="1874520"/>
            <a:ext cx="1104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UNIS Rate &amp; Quote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1500" y="260604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6" name="Text 4"/>
          <p:cNvSpPr/>
          <p:nvPr/>
        </p:nvSpPr>
        <p:spPr>
          <a:xfrm>
            <a:off x="571500" y="2834640"/>
            <a:ext cx="9391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</a:t>
            </a:r>
            <a:r>
              <a:rPr 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业务知识与系统数据之间的</a:t>
            </a:r>
            <a:r>
              <a:rPr lang="zh-CN" alt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差距，转型</a:t>
            </a:r>
            <a:r>
              <a:rPr lang="en-US" altLang="zh-CN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Native</a:t>
            </a:r>
            <a:endParaRPr lang="en-US" altLang="zh-CN" sz="16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 · 开场视频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先看一段演示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pic>
        <p:nvPicPr>
          <p:cNvPr id="22" name="D1.2.3.1.mp4" descr="UNIS Rate &amp; Quote demo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07-4AB6-9E77-2B6C76A5A2B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1500" y="1874519"/>
            <a:ext cx="11048695" cy="3246120"/>
          </a:xfrm>
          <a:prstGeom prst="rect">
            <a:avLst/>
          </a:prstGeom>
        </p:spPr>
      </p:pic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概念对齐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&amp; Rate S</a:t>
            </a: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heet</a:t>
            </a:r>
            <a:endParaRPr lang="en-US" sz="24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是开票与付款业务域；Rate Sheet 是其中费率如何定、条件如何适用的子场景。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BNP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Bill and Pay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开票与付款业务域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关联：收费、结算、账单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支付、开票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631698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RATE SHEET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9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Rate Sheet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698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BNP 子场景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费率如何定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698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条件如何适用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" y="521208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19" name="Text 17"/>
          <p:cNvSpPr/>
          <p:nvPr/>
        </p:nvSpPr>
        <p:spPr>
          <a:xfrm>
            <a:off x="571500" y="534924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= Bill and Pay · 开票与付款；Rate Sheet = BNP 子场景 · 费率与条件</a:t>
            </a:r>
            <a:endParaRPr lang="zh-CN" altLang="en-US" sz="1300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业务痛点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Rate Sheet当前业务痛点</a:t>
            </a:r>
            <a:r>
              <a:rPr lang="zh-CN" alt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/>
            </a:r>
            <a:r>
              <a:rPr lang="zh-CN" alt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/>
            </a:r>
            <a:endParaRPr lang="zh-CN" altLang="en-US" sz="24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系统节奏滞后 · 知识随人流失 · 呈现与学习门槛高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050" dirty="0"/>
          </a:p>
        </p:txBody>
      </p:sp>
      <p:sp>
        <p:nvSpPr>
          <p:cNvPr id="60" name="CardBg0"/>
          <p:cNvSpPr/>
          <p:nvPr/>
        </p:nvSpPr>
        <p:spPr>
          <a:xfrm>
            <a:off x="571500" y="1965960"/>
            <a:ext cx="35304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61" name="CardBar0"/>
          <p:cNvSpPr/>
          <p:nvPr/>
        </p:nvSpPr>
        <p:spPr>
          <a:xfrm>
            <a:off x="571500" y="1965960"/>
            <a:ext cx="3530498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62" name="CardLabel0"/>
          <p:cNvSpPr/>
          <p:nvPr/>
        </p:nvSpPr>
        <p:spPr>
          <a:xfrm>
            <a:off x="772668" y="2221992"/>
            <a:ext cx="312816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系统</a:t>
            </a:r>
            <a:endParaRPr lang="zh-CN" sz="1100" dirty="0"/>
          </a:p>
        </p:txBody>
      </p:sp>
      <p:sp>
        <p:nvSpPr>
          <p:cNvPr id="63" name="CardTitle0"/>
          <p:cNvSpPr/>
          <p:nvPr/>
        </p:nvSpPr>
        <p:spPr>
          <a:xfrm>
            <a:off x="772668" y="2514600"/>
            <a:ext cx="312816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系统跟不上变化</a:t>
            </a:r>
            <a:endParaRPr lang="zh-CN" sz="1600" dirty="0"/>
          </a:p>
        </p:txBody>
      </p:sp>
      <p:sp>
        <p:nvSpPr>
          <p:cNvPr id="64" name="CardRule0"/>
          <p:cNvSpPr/>
          <p:nvPr/>
        </p:nvSpPr>
        <p:spPr>
          <a:xfrm>
            <a:off x="772668" y="2999232"/>
            <a:ext cx="3128162" cy="9144"/>
          </a:xfrm>
          <a:prstGeom prst="rect">
            <a:avLst/>
          </a:prstGeom>
          <a:solidFill>
            <a:srgbClr val="72D2CA"/>
          </a:solidFill>
        </p:spPr>
      </p:sp>
      <p:sp>
        <p:nvSpPr>
          <p:cNvPr id="65" name="CardBody0"/>
          <p:cNvSpPr/>
          <p:nvPr/>
        </p:nvSpPr>
        <p:spPr>
          <a:xfrm>
            <a:off x="772668" y="3154680"/>
            <a:ext cx="312816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系统开发跟不上业务增长与变化</a:t>
            </a:r>
          </a:p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交付节奏难同步</a:t>
            </a:r>
          </a:p>
        </p:txBody>
      </p:sp>
      <p:sp>
        <p:nvSpPr>
          <p:cNvPr id="66" name="CardBg1"/>
          <p:cNvSpPr/>
          <p:nvPr/>
        </p:nvSpPr>
        <p:spPr>
          <a:xfrm>
            <a:off x="4330598" y="1965960"/>
            <a:ext cx="35304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67" name="CardBar1"/>
          <p:cNvSpPr/>
          <p:nvPr/>
        </p:nvSpPr>
        <p:spPr>
          <a:xfrm>
            <a:off x="4330598" y="1965960"/>
            <a:ext cx="3530498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68" name="CardLabel1"/>
          <p:cNvSpPr/>
          <p:nvPr/>
        </p:nvSpPr>
        <p:spPr>
          <a:xfrm>
            <a:off x="4531766" y="2221992"/>
            <a:ext cx="312816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知识</a:t>
            </a:r>
            <a:endParaRPr lang="zh-CN" sz="1100" dirty="0"/>
          </a:p>
        </p:txBody>
      </p:sp>
      <p:sp>
        <p:nvSpPr>
          <p:cNvPr id="69" name="CardTitle1"/>
          <p:cNvSpPr/>
          <p:nvPr/>
        </p:nvSpPr>
        <p:spPr>
          <a:xfrm>
            <a:off x="4531766" y="2514600"/>
            <a:ext cx="312816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知识留在人脑</a:t>
            </a:r>
            <a:endParaRPr lang="zh-CN" sz="1600" dirty="0"/>
          </a:p>
        </p:txBody>
      </p:sp>
      <p:sp>
        <p:nvSpPr>
          <p:cNvPr id="70" name="CardRule1"/>
          <p:cNvSpPr/>
          <p:nvPr/>
        </p:nvSpPr>
        <p:spPr>
          <a:xfrm>
            <a:off x="4531766" y="2999232"/>
            <a:ext cx="3128162" cy="9144"/>
          </a:xfrm>
          <a:prstGeom prst="rect">
            <a:avLst/>
          </a:prstGeom>
          <a:solidFill>
            <a:srgbClr val="72D2CA"/>
          </a:solidFill>
        </p:spPr>
      </p:sp>
      <p:sp>
        <p:nvSpPr>
          <p:cNvPr id="71" name="CardBody1"/>
          <p:cNvSpPr/>
          <p:nvPr/>
        </p:nvSpPr>
        <p:spPr>
          <a:xfrm>
            <a:off x="4531766" y="3154680"/>
            <a:ext cx="312816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规则与例外口口相传</a:t>
            </a:r>
          </a:p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业务知识难进系统</a:t>
            </a:r>
          </a:p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人员变动则流失</a:t>
            </a:r>
          </a:p>
        </p:txBody>
      </p:sp>
      <p:sp>
        <p:nvSpPr>
          <p:cNvPr id="72" name="CardBg2"/>
          <p:cNvSpPr/>
          <p:nvPr/>
        </p:nvSpPr>
        <p:spPr>
          <a:xfrm>
            <a:off x="8089697" y="1965960"/>
            <a:ext cx="3530498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73" name="CardBar2"/>
          <p:cNvSpPr/>
          <p:nvPr/>
        </p:nvSpPr>
        <p:spPr>
          <a:xfrm>
            <a:off x="8089697" y="1965960"/>
            <a:ext cx="3530498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4" name="CardLabel2"/>
          <p:cNvSpPr/>
          <p:nvPr/>
        </p:nvSpPr>
        <p:spPr>
          <a:xfrm>
            <a:off x="8290865" y="2221992"/>
            <a:ext cx="312816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体验与门槛</a:t>
            </a:r>
            <a:endParaRPr lang="zh-CN" sz="1100" dirty="0"/>
          </a:p>
        </p:txBody>
      </p:sp>
      <p:sp>
        <p:nvSpPr>
          <p:cNvPr id="75" name="CardTitle2"/>
          <p:cNvSpPr/>
          <p:nvPr/>
        </p:nvSpPr>
        <p:spPr>
          <a:xfrm>
            <a:off x="8290865" y="2514600"/>
            <a:ext cx="312816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呈现弱 · 开发重 · 门槛高</a:t>
            </a:r>
            <a:endParaRPr lang="zh-CN" sz="1600" dirty="0"/>
          </a:p>
        </p:txBody>
      </p:sp>
      <p:sp>
        <p:nvSpPr>
          <p:cNvPr id="76" name="CardRule2"/>
          <p:cNvSpPr/>
          <p:nvPr/>
        </p:nvSpPr>
        <p:spPr>
          <a:xfrm>
            <a:off x="8290865" y="2999232"/>
            <a:ext cx="3128162" cy="9144"/>
          </a:xfrm>
          <a:prstGeom prst="rect">
            <a:avLst/>
          </a:prstGeom>
          <a:solidFill>
            <a:srgbClr val="72D2CA"/>
          </a:solidFill>
        </p:spPr>
      </p:sp>
      <p:sp>
        <p:nvSpPr>
          <p:cNvPr id="77" name="CardBody2"/>
          <p:cNvSpPr/>
          <p:nvPr/>
        </p:nvSpPr>
        <p:spPr>
          <a:xfrm>
            <a:off x="8290865" y="3154680"/>
            <a:ext cx="3128162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页面呈现方式简陋</a:t>
            </a:r>
          </a:p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IT 开发工作量较大</a:t>
            </a:r>
          </a:p>
          <a:p>
            <a:pPr marL="0" indent="0" algn="l">
              <a:buNone/>
            </a:pPr>
            <a:r>
              <a:rPr lang="zh-CN" sz="130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系统使用人员学习门槛高</a:t>
            </a:r>
          </a:p>
        </p:txBody>
      </p:sp>
      <p:sp>
        <p:nvSpPr>
          <p:cNvPr id="37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8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9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0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41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2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3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4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5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6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7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9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51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2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解决思路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从数据语义到动态应用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 → Ontology Studio → Agent Factory ∥ ItemGPT → 动态生成应用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Database</a:t>
            </a: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数据语义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2801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233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1" name="Text 9"/>
          <p:cNvSpPr/>
          <p:nvPr/>
        </p:nvSpPr>
        <p:spPr>
          <a:xfrm>
            <a:off x="340233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Ontology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233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业务本体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5884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316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5" name="Text 13"/>
          <p:cNvSpPr/>
          <p:nvPr/>
        </p:nvSpPr>
        <p:spPr>
          <a:xfrm>
            <a:off x="6329045" y="2560320"/>
            <a:ext cx="241490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Factory  </a:t>
            </a: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能力</a:t>
            </a:r>
            <a:r>
              <a:rPr lang="en-US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ItemGPT  </a:t>
            </a: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入口</a:t>
            </a:r>
            <a:endParaRPr lang="en-US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8967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6399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9" name="Text 17"/>
          <p:cNvSpPr/>
          <p:nvPr/>
        </p:nvSpPr>
        <p:spPr>
          <a:xfrm>
            <a:off x="906399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Apps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6399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endParaRPr lang="zh-CN" altLang="en-US" sz="18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5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7360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· 字段 · 关系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Database：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定义数据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307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07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7" name="Text 25"/>
          <p:cNvSpPr/>
          <p:nvPr/>
        </p:nvSpPr>
        <p:spPr>
          <a:xfrm>
            <a:off x="44952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 ·</a:t>
            </a: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 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52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Ontology：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业务专家构建业务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899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99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Text 29"/>
          <p:cNvSpPr/>
          <p:nvPr/>
        </p:nvSpPr>
        <p:spPr>
          <a:xfrm>
            <a:off x="82544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动态生成站点</a:t>
            </a: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</a:t>
            </a:r>
            <a:endParaRPr lang="zh-CN" altLang="en-US" sz="15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544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/>
              <a:t>基于业务本体生成应用站点</a:t>
            </a:r>
            <a:endParaRPr lang="zh-CN" alt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1050" dirty="0"/>
          </a:p>
        </p:txBody>
      </p:sp>
      <p:sp>
        <p:nvSpPr>
          <p:cNvPr id="3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Object 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Database｜数据语义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由跨角色协同，将原始异构数据构建成可引用的数据语义</a:t>
            </a:r>
            <a:endParaRPr lang="zh-CN" sz="1300" dirty="0"/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原始表与字段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数据散落在表与字段中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尚未形成统一业务含义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难以被业务与 AI 直接引用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631698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SEMANTICS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9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可引用的数据语义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698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对表、字段、关系做语义定义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供本体与应用引用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698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原始真实数据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→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</a:t>
            </a:r>
            <a:endParaRPr lang="zh-CN" altLang="en-US" sz="1300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0" name="CollabBg"/>
          <p:cNvSpPr/>
          <p:nvPr/>
        </p:nvSpPr>
        <p:spPr>
          <a:xfrm>
            <a:off x="571500" y="4160520"/>
            <a:ext cx="11048695" cy="868680"/>
          </a:xfrm>
          <a:prstGeom prst="roundRect">
            <a:avLst>
              <a:gd name="adj" fmla="val 5000"/>
            </a:avLst>
          </a:prstGeom>
          <a:solidFill>
            <a:srgbClr val="F0FAF9"/>
          </a:solidFill>
          <a:ln w="9525">
            <a:solidFill>
              <a:srgbClr val="72D2CA"/>
            </a:solidFill>
          </a:ln>
        </p:spPr>
      </p:sp>
      <p:sp>
        <p:nvSpPr>
          <p:cNvPr id="51" name="CollabAccent"/>
          <p:cNvSpPr/>
          <p:nvPr/>
        </p:nvSpPr>
        <p:spPr>
          <a:xfrm>
            <a:off x="571500" y="4160520"/>
            <a:ext cx="73152" cy="86868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2" name="CollabLabel"/>
          <p:cNvSpPr/>
          <p:nvPr/>
        </p:nvSpPr>
        <p:spPr>
          <a:xfrm>
            <a:off x="868680" y="42245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协同构建</a:t>
            </a:r>
            <a:endParaRPr lang="zh-CN" sz="1300" dirty="0"/>
          </a:p>
        </p:txBody>
      </p:sp>
      <p:sp>
        <p:nvSpPr>
          <p:cNvPr id="53" name="CollabRoles"/>
          <p:cNvSpPr/>
          <p:nvPr/>
        </p:nvSpPr>
        <p:spPr>
          <a:xfrm>
            <a:off x="86868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FDE</a:t>
            </a:r>
            <a:r>
              <a:rPr lang="zh-CN" sz="1600" dirty="0" b="1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 </a:t>
            </a:r>
            <a:r>
              <a:rPr lang="zh-CN" sz="16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业务专家</a:t>
            </a:r>
            <a:r>
              <a:rPr lang="zh-CN" sz="1600" dirty="0" b="1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 </a:t>
            </a:r>
            <a:r>
              <a:rPr lang="zh-CN" sz="16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技术专家</a:t>
            </a:r>
            <a:r>
              <a:rPr lang="zh-CN" sz="14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→   原始异构数据 构建成 数据语义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571500" y="521208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19" name="Text 17"/>
          <p:cNvSpPr/>
          <p:nvPr/>
        </p:nvSpPr>
        <p:spPr>
          <a:xfrm>
            <a:off x="571500" y="534924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zh-CN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FDE + 业务专家 + 技术专家协同完成语义化，供本体与应用引用</a:t>
            </a:r>
            <a:endParaRPr lang="zh-CN" sz="1300" dirty="0"/>
          </a:p>
        </p:txBody>
      </p:sp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1050" dirty="0"/>
          </a:p>
        </p:txBody>
      </p:sp>
      <p:sp>
        <p:nvSpPr>
          <p:cNvPr id="22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3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24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5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26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27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28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29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0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1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2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3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34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5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36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7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Ontology 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Ontology Studio｜业务本体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 Object Database 的数据语义，由业务专家</a:t>
            </a:r>
            <a:r>
              <a:rPr lang="zh-CN" alt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构建业务</a:t>
            </a:r>
            <a:r>
              <a:rPr lang="zh-CN" alt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4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82880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8" name="Text 6"/>
          <p:cNvSpPr/>
          <p:nvPr/>
        </p:nvSpPr>
        <p:spPr>
          <a:xfrm>
            <a:off x="845820" y="202996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68780" y="197510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数据语义接入</a:t>
            </a:r>
            <a:endParaRPr lang="en-US" altLang="zh-CN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68780" y="22677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接入已定义的表、字段、关系语义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78892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278892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845820" y="299008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8780" y="29352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结合业务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资料，业务</a:t>
            </a:r>
            <a:r>
              <a:rPr 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专家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审核</a:t>
            </a:r>
            <a:endParaRPr lang="zh-CN" altLang="en-US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68780" y="32278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梳理业务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规则、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流程、决策边界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374904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" y="374904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8" name="Text 16"/>
          <p:cNvSpPr/>
          <p:nvPr/>
        </p:nvSpPr>
        <p:spPr>
          <a:xfrm>
            <a:off x="845820" y="395020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68780" y="389534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业务本体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</a:t>
            </a:r>
            <a:endParaRPr lang="zh-CN" altLang="en-US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68780" y="4187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数据与语义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绑定，完整构建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500" y="470916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470916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845820" y="491032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68780" y="485546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可理解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68780" y="514807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对齐后 AI 才有完整业务世界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1050" dirty="0"/>
          </a:p>
        </p:txBody>
      </p:sp>
      <p:sp>
        <p:nvSpPr>
          <p:cNvPr id="28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9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0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1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2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3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34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5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6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7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8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9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0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1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2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3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Agent Factory｜ItemGPT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Factory｜ItemGPT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/>
              <a:t>同一套本体生成应用</a:t>
            </a:r>
            <a:r>
              <a:rPr lang="en-US" altLang="zh-CN" sz="1400" dirty="0"/>
              <a:t>agent</a:t>
            </a:r>
            <a:r>
              <a:rPr lang="zh-CN" altLang="en-US" sz="1400" dirty="0"/>
              <a:t>、分析页面、受控</a:t>
            </a:r>
            <a:r>
              <a:rPr lang="en-US" altLang="zh-CN" sz="1400" dirty="0"/>
              <a:t>Action</a:t>
            </a:r>
            <a:endParaRPr lang="en-US" alt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2022653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AGENT FACTORY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96973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基于本体构建应用</a:t>
            </a:r>
            <a:r>
              <a:rPr lang="en-US" altLang="zh-CN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altLang="zh-CN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1500" y="311993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0" name="Text 8"/>
          <p:cNvSpPr/>
          <p:nvPr/>
        </p:nvSpPr>
        <p:spPr>
          <a:xfrm>
            <a:off x="571500" y="273588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 Ontology 业务本体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362285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2" name="Text 10"/>
          <p:cNvSpPr/>
          <p:nvPr/>
        </p:nvSpPr>
        <p:spPr>
          <a:xfrm>
            <a:off x="571500" y="323880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封装可调用 Agent 能力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412577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4" name="Text 12"/>
          <p:cNvSpPr/>
          <p:nvPr/>
        </p:nvSpPr>
        <p:spPr>
          <a:xfrm>
            <a:off x="571500" y="374172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供场景按需编排调用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1995348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ITEMGPT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980" y="2269668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</a:t>
            </a:r>
            <a:endParaRPr lang="zh-CN" altLang="en-US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16980" y="309262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9" name="Text 17"/>
          <p:cNvSpPr/>
          <p:nvPr/>
        </p:nvSpPr>
        <p:spPr>
          <a:xfrm>
            <a:off x="6316980" y="270858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基于本体 +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用户诉求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16980" y="359554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1" name="Text 19"/>
          <p:cNvSpPr/>
          <p:nvPr/>
        </p:nvSpPr>
        <p:spPr>
          <a:xfrm>
            <a:off x="6316980" y="321150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生成分析页与业务表单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6980" y="409846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3" name="Text 21"/>
          <p:cNvSpPr/>
          <p:nvPr/>
        </p:nvSpPr>
        <p:spPr>
          <a:xfrm>
            <a:off x="6316980" y="371442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作为人机交互入口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1500" y="580644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34" name="Text 32"/>
          <p:cNvSpPr/>
          <p:nvPr/>
        </p:nvSpPr>
        <p:spPr>
          <a:xfrm>
            <a:off x="571500" y="589788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Factory = 能力；ItemGPT = 入口；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1050" dirty="0"/>
          </a:p>
        </p:txBody>
      </p:sp>
      <p:sp>
        <p:nvSpPr>
          <p:cNvPr id="37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9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0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41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2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3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4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5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6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7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9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51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2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  <p:sp>
        <p:nvSpPr>
          <p:cNvPr id="35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3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复盘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方案复盘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从「人盲目调价、系统只记录」到「系统辅助人定价 / 报价」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数据语义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2801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233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1" name="Text 9"/>
          <p:cNvSpPr/>
          <p:nvPr/>
        </p:nvSpPr>
        <p:spPr>
          <a:xfrm>
            <a:off x="340233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Ontology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233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业务本体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5884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316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5" name="Text 13"/>
          <p:cNvSpPr/>
          <p:nvPr/>
        </p:nvSpPr>
        <p:spPr>
          <a:xfrm>
            <a:off x="623316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Factory ∥ ItemGPT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16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 ∥ 入口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8967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6399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9" name="Text 17"/>
          <p:cNvSpPr/>
          <p:nvPr/>
        </p:nvSpPr>
        <p:spPr>
          <a:xfrm>
            <a:off x="906399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Apps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6399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" y="3931920"/>
            <a:ext cx="3530600" cy="1554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7360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辅助决策能力弱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" y="4480560"/>
            <a:ext cx="320141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 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现在动态生成业务系统，多客户比较、趋势分析一步到位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30700" y="3931920"/>
            <a:ext cx="3530600" cy="1554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07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7" name="Text 25"/>
          <p:cNvSpPr/>
          <p:nvPr/>
        </p:nvSpPr>
        <p:spPr>
          <a:xfrm>
            <a:off x="44952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IT 开发成本高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5292" y="4480560"/>
            <a:ext cx="320141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 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现在按小时交付，开发成本大幅降低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9900" y="3931920"/>
            <a:ext cx="3530600" cy="15544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99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Text 29"/>
          <p:cNvSpPr/>
          <p:nvPr/>
        </p:nvSpPr>
        <p:spPr>
          <a:xfrm>
            <a:off x="8254492" y="4114800"/>
            <a:ext cx="32014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业务人员被动适应系统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54492" y="4480560"/>
            <a:ext cx="320141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 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现在业务人员描述需求即可，系统按需生成，主动权回到业务手中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1050" dirty="0"/>
          </a:p>
        </p:txBody>
      </p:sp>
      <p:sp>
        <p:nvSpPr>
          <p:cNvPr id="3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/>
          <p:cNvSpPr/>
          <p:nvPr/>
        </p:nvSpPr>
        <p:spPr>
          <a:xfrm>
            <a:off x="571500" y="475488"/>
            <a:ext cx="1104869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08 · 价值</a:t>
            </a:r>
            <a:endParaRPr lang="zh-CN"/>
          </a:p>
        </p:txBody>
      </p:sp>
      <p:sp>
        <p:nvSpPr>
          <p:cNvPr id="21" name="Title"/>
          <p:cNvSpPr/>
          <p:nvPr/>
        </p:nvSpPr>
        <p:spPr>
          <a:xfrm>
            <a:off x="571500" y="694944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Rate Sheet </a:t>
            </a:r>
            <a:r>
              <a:rPr lang="zh-CN" altLang="en-US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转型</a:t>
            </a:r>
            <a:r>
              <a:rPr lang="en-US" alt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AI native </a:t>
            </a:r>
            <a:r>
              <a:rPr 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商业价值</a:t>
            </a:r>
            <a:endParaRPr lang="zh-CN"/>
          </a:p>
        </p:txBody>
      </p:sp>
      <p:sp>
        <p:nvSpPr>
          <p:cNvPr id="22" name="Rule"/>
          <p:cNvSpPr/>
          <p:nvPr/>
        </p:nvSpPr>
        <p:spPr>
          <a:xfrm>
            <a:off x="571500" y="1097280"/>
            <a:ext cx="11048695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23" name="Lead"/>
          <p:cNvSpPr/>
          <p:nvPr/>
        </p:nvSpPr>
        <p:spPr>
          <a:xfrm>
            <a:off x="571500" y="1308735"/>
            <a:ext cx="11049000" cy="23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UNIS 建立这套系统，不只是为了更快地生成 Quote，而是为了让每一个报价都有数据依据、价格标准和可评估的商业价值。</a:t>
            </a:r>
            <a:endParaRPr lang="zh-CN"/>
          </a:p>
        </p:txBody>
      </p:sp>
      <p:sp>
        <p:nvSpPr>
          <p:cNvPr id="24" name="RowBg0"/>
          <p:cNvSpPr/>
          <p:nvPr/>
        </p:nvSpPr>
        <p:spPr>
          <a:xfrm>
            <a:off x="571500" y="178308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5" name="RowAcc0"/>
          <p:cNvSpPr/>
          <p:nvPr/>
        </p:nvSpPr>
        <p:spPr>
          <a:xfrm>
            <a:off x="571500" y="1783080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6" name="RowNum0"/>
          <p:cNvSpPr/>
          <p:nvPr/>
        </p:nvSpPr>
        <p:spPr>
          <a:xfrm>
            <a:off x="749808" y="183794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01</a:t>
            </a:r>
            <a:endParaRPr lang="zh-CN"/>
          </a:p>
        </p:txBody>
      </p:sp>
      <p:sp>
        <p:nvSpPr>
          <p:cNvPr id="27" name="RowTitle0"/>
          <p:cNvSpPr/>
          <p:nvPr/>
        </p:nvSpPr>
        <p:spPr>
          <a:xfrm>
            <a:off x="1325880" y="1810512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提高报价效率</a:t>
            </a:r>
            <a:endParaRPr lang="zh-CN"/>
          </a:p>
        </p:txBody>
      </p:sp>
      <p:sp>
        <p:nvSpPr>
          <p:cNvPr id="28" name="RowBody0"/>
          <p:cNvSpPr/>
          <p:nvPr/>
        </p:nvSpPr>
        <p:spPr>
          <a:xfrm>
            <a:off x="1325880" y="2002536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减少人工整理 Ratesheet、匹配 Billing Item 和计算报价的工作量。</a:t>
            </a:r>
            <a:endParaRPr lang="zh-CN"/>
          </a:p>
        </p:txBody>
      </p:sp>
      <p:sp>
        <p:nvSpPr>
          <p:cNvPr id="29" name="RowBg1"/>
          <p:cNvSpPr/>
          <p:nvPr/>
        </p:nvSpPr>
        <p:spPr>
          <a:xfrm>
            <a:off x="571500" y="2322576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RowAcc1"/>
          <p:cNvSpPr/>
          <p:nvPr/>
        </p:nvSpPr>
        <p:spPr>
          <a:xfrm>
            <a:off x="571500" y="2322576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RowNum1"/>
          <p:cNvSpPr/>
          <p:nvPr/>
        </p:nvSpPr>
        <p:spPr>
          <a:xfrm>
            <a:off x="749808" y="23774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02</a:t>
            </a:r>
            <a:endParaRPr lang="zh-CN"/>
          </a:p>
        </p:txBody>
      </p:sp>
      <p:sp>
        <p:nvSpPr>
          <p:cNvPr id="32" name="RowTitle1"/>
          <p:cNvSpPr/>
          <p:nvPr/>
        </p:nvSpPr>
        <p:spPr>
          <a:xfrm>
            <a:off x="1325880" y="2350008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统一价格标准</a:t>
            </a:r>
            <a:endParaRPr lang="zh-CN"/>
          </a:p>
        </p:txBody>
      </p:sp>
      <p:sp>
        <p:nvSpPr>
          <p:cNvPr id="33" name="RowBody1"/>
          <p:cNvSpPr/>
          <p:nvPr/>
        </p:nvSpPr>
        <p:spPr>
          <a:xfrm>
            <a:off x="1325880" y="2542032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建立 UNIS Standard Ratesheet，规范不同 Customer、Facility 的收费项目、UOM 和定价逻辑。</a:t>
            </a:r>
            <a:endParaRPr lang="zh-CN"/>
          </a:p>
        </p:txBody>
      </p:sp>
      <p:sp>
        <p:nvSpPr>
          <p:cNvPr id="34" name="RowBg2"/>
          <p:cNvSpPr/>
          <p:nvPr/>
        </p:nvSpPr>
        <p:spPr>
          <a:xfrm>
            <a:off x="571500" y="2862072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5" name="RowAcc2"/>
          <p:cNvSpPr/>
          <p:nvPr/>
        </p:nvSpPr>
        <p:spPr>
          <a:xfrm>
            <a:off x="571500" y="2862072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6" name="RowNum2"/>
          <p:cNvSpPr/>
          <p:nvPr/>
        </p:nvSpPr>
        <p:spPr>
          <a:xfrm>
            <a:off x="749808" y="291693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03</a:t>
            </a:r>
            <a:endParaRPr lang="zh-CN"/>
          </a:p>
        </p:txBody>
      </p:sp>
      <p:sp>
        <p:nvSpPr>
          <p:cNvPr id="37" name="RowTitle2"/>
          <p:cNvSpPr/>
          <p:nvPr/>
        </p:nvSpPr>
        <p:spPr>
          <a:xfrm>
            <a:off x="1325880" y="2889504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提升 Revenue 和 Profitability</a:t>
            </a:r>
            <a:endParaRPr lang="zh-CN"/>
          </a:p>
        </p:txBody>
      </p:sp>
      <p:sp>
        <p:nvSpPr>
          <p:cNvPr id="38" name="RowBody2"/>
          <p:cNvSpPr/>
          <p:nvPr/>
        </p:nvSpPr>
        <p:spPr>
          <a:xfrm>
            <a:off x="1325880" y="308152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识别低价、漏收费及价格优化机会，提高客户和服务项目的盈利能力。</a:t>
            </a:r>
            <a:endParaRPr lang="zh-CN"/>
          </a:p>
        </p:txBody>
      </p:sp>
      <p:sp>
        <p:nvSpPr>
          <p:cNvPr id="39" name="RowBg3"/>
          <p:cNvSpPr/>
          <p:nvPr/>
        </p:nvSpPr>
        <p:spPr>
          <a:xfrm>
            <a:off x="571500" y="3401568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40" name="RowAcc3"/>
          <p:cNvSpPr/>
          <p:nvPr/>
        </p:nvSpPr>
        <p:spPr>
          <a:xfrm>
            <a:off x="571500" y="3401568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41" name="RowNum3"/>
          <p:cNvSpPr/>
          <p:nvPr/>
        </p:nvSpPr>
        <p:spPr>
          <a:xfrm>
            <a:off x="749808" y="345643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04</a:t>
            </a:r>
            <a:endParaRPr lang="zh-CN"/>
          </a:p>
        </p:txBody>
      </p:sp>
      <p:sp>
        <p:nvSpPr>
          <p:cNvPr id="42" name="RowTitle3"/>
          <p:cNvSpPr/>
          <p:nvPr/>
        </p:nvSpPr>
        <p:spPr>
          <a:xfrm>
            <a:off x="1325880" y="342900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支持智能定价决策</a:t>
            </a:r>
            <a:endParaRPr lang="zh-CN"/>
          </a:p>
        </p:txBody>
      </p:sp>
      <p:sp>
        <p:nvSpPr>
          <p:cNvPr id="43" name="RowBody3"/>
          <p:cNvSpPr/>
          <p:nvPr/>
        </p:nvSpPr>
        <p:spPr>
          <a:xfrm>
            <a:off x="1325880" y="3621024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结合历史 Invoice、Customer Level、Item Usage 和行业价格，提供有数据依据的价格建议。</a:t>
            </a:r>
            <a:endParaRPr lang="zh-CN"/>
          </a:p>
        </p:txBody>
      </p:sp>
      <p:sp>
        <p:nvSpPr>
          <p:cNvPr id="44" name="RowBg4"/>
          <p:cNvSpPr/>
          <p:nvPr/>
        </p:nvSpPr>
        <p:spPr>
          <a:xfrm>
            <a:off x="571500" y="3941064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45" name="RowAcc4"/>
          <p:cNvSpPr/>
          <p:nvPr/>
        </p:nvSpPr>
        <p:spPr>
          <a:xfrm>
            <a:off x="571500" y="3941064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46" name="RowNum4"/>
          <p:cNvSpPr/>
          <p:nvPr/>
        </p:nvSpPr>
        <p:spPr>
          <a:xfrm>
            <a:off x="749808" y="399592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05</a:t>
            </a:r>
            <a:endParaRPr lang="zh-CN"/>
          </a:p>
        </p:txBody>
      </p:sp>
      <p:sp>
        <p:nvSpPr>
          <p:cNvPr id="47" name="RowTitle4"/>
          <p:cNvSpPr/>
          <p:nvPr/>
        </p:nvSpPr>
        <p:spPr>
          <a:xfrm>
            <a:off x="1325880" y="396849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降低报价风险</a:t>
            </a:r>
            <a:endParaRPr lang="zh-CN"/>
          </a:p>
        </p:txBody>
      </p:sp>
      <p:sp>
        <p:nvSpPr>
          <p:cNvPr id="48" name="RowBody4"/>
          <p:cNvSpPr/>
          <p:nvPr/>
        </p:nvSpPr>
        <p:spPr>
          <a:xfrm>
            <a:off x="1325880" y="4160520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通过 Simulator 评估价格调整对历史 Revenue 和利润的影响，避免盲目调价。</a:t>
            </a:r>
            <a:endParaRPr lang="zh-CN"/>
          </a:p>
        </p:txBody>
      </p:sp>
      <p:sp>
        <p:nvSpPr>
          <p:cNvPr id="49" name="RowBg5"/>
          <p:cNvSpPr/>
          <p:nvPr/>
        </p:nvSpPr>
        <p:spPr>
          <a:xfrm>
            <a:off x="571500" y="448056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50" name="RowAcc5"/>
          <p:cNvSpPr/>
          <p:nvPr/>
        </p:nvSpPr>
        <p:spPr>
          <a:xfrm>
            <a:off x="571500" y="4480560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1" name="RowNum5"/>
          <p:cNvSpPr/>
          <p:nvPr/>
        </p:nvSpPr>
        <p:spPr>
          <a:xfrm>
            <a:off x="749808" y="4535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06</a:t>
            </a:r>
            <a:endParaRPr lang="zh-CN"/>
          </a:p>
        </p:txBody>
      </p:sp>
      <p:sp>
        <p:nvSpPr>
          <p:cNvPr id="52" name="RowTitle5"/>
          <p:cNvSpPr/>
          <p:nvPr/>
        </p:nvSpPr>
        <p:spPr>
          <a:xfrm>
            <a:off x="1325880" y="4507992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实现 Quote-to-Billing 自动化</a:t>
            </a:r>
            <a:endParaRPr lang="zh-CN"/>
          </a:p>
        </p:txBody>
      </p:sp>
      <p:sp>
        <p:nvSpPr>
          <p:cNvPr id="53" name="RowBody5"/>
          <p:cNvSpPr/>
          <p:nvPr/>
        </p:nvSpPr>
        <p:spPr>
          <a:xfrm>
            <a:off x="1325880" y="4700016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将最终批准的 Quotation 与 BNP Billing 配置关联，减少人工录入错误及报价与实际计费不一致的问题。</a:t>
            </a:r>
            <a:endParaRPr lang="zh-CN"/>
          </a:p>
        </p:txBody>
      </p:sp>
      <p:sp>
        <p:nvSpPr>
          <p:cNvPr id="54" name="RowBg6"/>
          <p:cNvSpPr/>
          <p:nvPr/>
        </p:nvSpPr>
        <p:spPr>
          <a:xfrm>
            <a:off x="571500" y="5020056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55" name="RowAcc6"/>
          <p:cNvSpPr/>
          <p:nvPr/>
        </p:nvSpPr>
        <p:spPr>
          <a:xfrm>
            <a:off x="571500" y="5020056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6" name="RowNum6"/>
          <p:cNvSpPr/>
          <p:nvPr/>
        </p:nvSpPr>
        <p:spPr>
          <a:xfrm>
            <a:off x="749808" y="507492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07</a:t>
            </a:r>
            <a:endParaRPr lang="zh-CN"/>
          </a:p>
        </p:txBody>
      </p:sp>
      <p:sp>
        <p:nvSpPr>
          <p:cNvPr id="57" name="RowTitle6"/>
          <p:cNvSpPr/>
          <p:nvPr/>
        </p:nvSpPr>
        <p:spPr>
          <a:xfrm>
            <a:off x="1325880" y="5047488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提高业务可扩展性</a:t>
            </a:r>
            <a:endParaRPr lang="zh-CN"/>
          </a:p>
        </p:txBody>
      </p:sp>
      <p:sp>
        <p:nvSpPr>
          <p:cNvPr id="58" name="RowBody6"/>
          <p:cNvSpPr/>
          <p:nvPr/>
        </p:nvSpPr>
        <p:spPr>
          <a:xfrm>
            <a:off x="1325880" y="5239512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支持未来更多服务类型、客户及 Facility 的标准化报价管理。</a:t>
            </a:r>
            <a:endParaRPr lang="zh-CN"/>
          </a:p>
        </p:txBody>
      </p:sp>
      <p:sp>
        <p:nvSpPr>
          <p:cNvPr id="59" name="FinalBg"/>
          <p:cNvSpPr/>
          <p:nvPr/>
        </p:nvSpPr>
        <p:spPr>
          <a:xfrm>
            <a:off x="571500" y="566928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E8F6F5"/>
          </a:solidFill>
          <a:ln w="12700">
            <a:solidFill>
              <a:srgbClr val="72D2CA"/>
            </a:solidFill>
            <a:prstDash val="solid"/>
          </a:ln>
        </p:spPr>
      </p:sp>
      <p:sp>
        <p:nvSpPr>
          <p:cNvPr id="60" name="FinalTx"/>
          <p:cNvSpPr/>
          <p:nvPr/>
        </p:nvSpPr>
        <p:spPr>
          <a:xfrm>
            <a:off x="731520" y="5724144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最终价值  </a:t>
            </a:r>
            <a:r>
              <a:rPr lang="zh-CN" sz="11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提高报价效率、优化收入与利润、统一定价标准，并实现从价格分析、智能报价到 BNP Billing 的完整业务闭环。</a:t>
            </a:r>
            <a:endParaRPr lang="zh-CN"/>
          </a:p>
        </p:txBody>
      </p:sp>
      <p:sp>
        <p:nvSpPr>
          <p:cNvPr id="61" name="Footer"/>
          <p:cNvSpPr/>
          <p:nvPr/>
        </p:nvSpPr>
        <p:spPr>
          <a:xfrm>
            <a:off x="7422185" y="6473952"/>
            <a:ext cx="419892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10 / 1</a:t>
            </a:r>
            <a:r>
              <a:rPr lang="en-US" alt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2</a:t>
            </a:r>
            <a:endParaRPr lang="en-US" altLang="zh-CN" sz="105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2"/>
            </a:endParaRPr>
          </a:p>
        </p:txBody>
      </p:sp>
      <p:sp>
        <p:nvSpPr>
          <p:cNvPr id="62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3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64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5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66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7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68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9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70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71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72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73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74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75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76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77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71500" y="475488"/>
            <a:ext cx="11048695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· 合作落地</a:t>
            </a:r>
            <a:endParaRPr lang="zh-CN" sz="1300" dirty="0"/>
          </a:p>
        </p:txBody>
      </p:sp>
      <p:sp>
        <p:nvSpPr>
          <p:cNvPr id="3" name="Title"/>
          <p:cNvSpPr/>
          <p:nvPr/>
        </p:nvSpPr>
        <p:spPr>
          <a:xfrm>
            <a:off x="571500" y="713232"/>
            <a:ext cx="1104869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22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ISS 对齐：是否存在类似场景？</a:t>
            </a:r>
            <a:endParaRPr lang="zh-CN" sz="1300" dirty="0"/>
          </a:p>
        </p:txBody>
      </p:sp>
      <p:sp>
        <p:nvSpPr>
          <p:cNvPr id="4" name="Rule"/>
          <p:cNvSpPr/>
          <p:nvPr/>
        </p:nvSpPr>
        <p:spPr>
          <a:xfrm>
            <a:off x="571500" y="1133856"/>
            <a:ext cx="11048695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0" name="AskBg0"/>
          <p:cNvSpPr/>
          <p:nvPr/>
        </p:nvSpPr>
        <p:spPr>
          <a:xfrm>
            <a:off x="571500" y="1554480"/>
            <a:ext cx="1104869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51" name="AskBar0"/>
          <p:cNvSpPr/>
          <p:nvPr/>
        </p:nvSpPr>
        <p:spPr>
          <a:xfrm>
            <a:off x="571500" y="1554480"/>
            <a:ext cx="73152" cy="109728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2" name="AskNum0"/>
          <p:cNvSpPr/>
          <p:nvPr/>
        </p:nvSpPr>
        <p:spPr>
          <a:xfrm>
            <a:off x="868680" y="1847088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24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zh-CN" sz="1300" dirty="0"/>
          </a:p>
        </p:txBody>
      </p:sp>
      <p:sp>
        <p:nvSpPr>
          <p:cNvPr id="53" name="AskLabel0"/>
          <p:cNvSpPr/>
          <p:nvPr/>
        </p:nvSpPr>
        <p:spPr>
          <a:xfrm>
            <a:off x="1783080" y="1755648"/>
            <a:ext cx="9418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数据形态</a:t>
            </a:r>
            <a:endParaRPr lang="zh-CN" sz="1300" dirty="0"/>
          </a:p>
        </p:txBody>
      </p:sp>
      <p:sp>
        <p:nvSpPr>
          <p:cNvPr id="54" name="AskQ0"/>
          <p:cNvSpPr/>
          <p:nvPr/>
        </p:nvSpPr>
        <p:spPr>
          <a:xfrm>
            <a:off x="1783080" y="205740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数据相对完善，还是结构复杂、分散？</a:t>
            </a:r>
            <a:endParaRPr lang="zh-CN" sz="1300" dirty="0"/>
          </a:p>
        </p:txBody>
      </p:sp>
      <p:sp>
        <p:nvSpPr>
          <p:cNvPr id="55" name="AskBg1"/>
          <p:cNvSpPr/>
          <p:nvPr/>
        </p:nvSpPr>
        <p:spPr>
          <a:xfrm>
            <a:off x="571500" y="2816352"/>
            <a:ext cx="1104869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56" name="AskBar1"/>
          <p:cNvSpPr/>
          <p:nvPr/>
        </p:nvSpPr>
        <p:spPr>
          <a:xfrm>
            <a:off x="571500" y="2816352"/>
            <a:ext cx="73152" cy="109728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7" name="AskNum1"/>
          <p:cNvSpPr/>
          <p:nvPr/>
        </p:nvSpPr>
        <p:spPr>
          <a:xfrm>
            <a:off x="868680" y="310896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24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zh-CN" sz="1300" dirty="0"/>
          </a:p>
        </p:txBody>
      </p:sp>
      <p:sp>
        <p:nvSpPr>
          <p:cNvPr id="58" name="AskLabel1"/>
          <p:cNvSpPr/>
          <p:nvPr/>
        </p:nvSpPr>
        <p:spPr>
          <a:xfrm>
            <a:off x="1783080" y="3017520"/>
            <a:ext cx="9418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IT 依赖</a:t>
            </a:r>
            <a:endParaRPr lang="zh-CN" sz="1300" dirty="0"/>
          </a:p>
        </p:txBody>
      </p:sp>
      <p:sp>
        <p:nvSpPr>
          <p:cNvPr id="59" name="AskQ1"/>
          <p:cNvSpPr/>
          <p:nvPr/>
        </p:nvSpPr>
        <p:spPr>
          <a:xfrm>
            <a:off x="1783080" y="3319272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页面与流程是否依赖大量 IT 开发？</a:t>
            </a:r>
            <a:endParaRPr lang="zh-CN" sz="1300" dirty="0"/>
          </a:p>
        </p:txBody>
      </p:sp>
      <p:sp>
        <p:nvSpPr>
          <p:cNvPr id="60" name="AskBg2"/>
          <p:cNvSpPr/>
          <p:nvPr/>
        </p:nvSpPr>
        <p:spPr>
          <a:xfrm>
            <a:off x="571500" y="4078224"/>
            <a:ext cx="11048695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6E5"/>
            </a:solidFill>
          </a:ln>
        </p:spPr>
      </p:sp>
      <p:sp>
        <p:nvSpPr>
          <p:cNvPr id="61" name="AskBar2"/>
          <p:cNvSpPr/>
          <p:nvPr/>
        </p:nvSpPr>
        <p:spPr>
          <a:xfrm>
            <a:off x="571500" y="4078224"/>
            <a:ext cx="73152" cy="109728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62" name="AskNum2"/>
          <p:cNvSpPr/>
          <p:nvPr/>
        </p:nvSpPr>
        <p:spPr>
          <a:xfrm>
            <a:off x="868680" y="4370832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2400" dirty="0" b="1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zh-CN" sz="1300" dirty="0"/>
          </a:p>
        </p:txBody>
      </p:sp>
      <p:sp>
        <p:nvSpPr>
          <p:cNvPr id="63" name="AskLabel2"/>
          <p:cNvSpPr/>
          <p:nvPr/>
        </p:nvSpPr>
        <p:spPr>
          <a:xfrm>
            <a:off x="1783080" y="4279392"/>
            <a:ext cx="9418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1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与分析</a:t>
            </a:r>
            <a:endParaRPr lang="zh-CN" sz="1300" dirty="0"/>
          </a:p>
        </p:txBody>
      </p:sp>
      <p:sp>
        <p:nvSpPr>
          <p:cNvPr id="64" name="AskQ2"/>
          <p:cNvSpPr/>
          <p:nvPr/>
        </p:nvSpPr>
        <p:spPr>
          <a:xfrm>
            <a:off x="1783080" y="4581144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1600" dirty="0" b="1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是否需要 Agent 拓展能力，并支撑更丰富的分析？</a:t>
            </a:r>
            <a:endParaRPr lang="zh-CN" sz="1300" dirty="0"/>
          </a:p>
        </p:txBody>
      </p:sp>
      <p:sp>
        <p:nvSpPr>
          <p:cNvPr id="23" name="DiscRule"/>
          <p:cNvSpPr/>
          <p:nvPr/>
        </p:nvSpPr>
        <p:spPr>
          <a:xfrm>
            <a:off x="571500" y="5806440"/>
            <a:ext cx="11048695" cy="10973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4" name="Disc"/>
          <p:cNvSpPr/>
          <p:nvPr/>
        </p:nvSpPr>
        <p:spPr>
          <a:xfrm>
            <a:off x="571500" y="5897880"/>
            <a:ext cx="11048695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1200" dirty="0" b="1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研讨邀请  </a:t>
            </a:r>
            <a:r>
              <a:rPr lang="zh-CN" sz="12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欢迎对照 Rate Sheet 链路，分享现状与优先级</a:t>
            </a:r>
            <a:endParaRPr lang="zh-CN" sz="1300" dirty="0"/>
          </a:p>
        </p:txBody>
      </p:sp>
      <p:sp>
        <p:nvSpPr>
          <p:cNvPr id="2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2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2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3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3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3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  <p:sp>
        <p:nvSpPr>
          <p:cNvPr id="41" name="Footer"/>
          <p:cNvSpPr/>
          <p:nvPr/>
        </p:nvSpPr>
        <p:spPr>
          <a:xfrm>
            <a:off x="7422185" y="6473952"/>
            <a:ext cx="4198925" cy="2560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11 / 1</a:t>
            </a:r>
            <a:r>
              <a:rPr lang="en-US" alt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2</a:t>
            </a:r>
            <a:endParaRPr lang="en-US" altLang="zh-CN" sz="105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01" name="Rule"/>
          <p:cNvSpPr/>
          <p:nvPr/>
        </p:nvSpPr>
        <p:spPr>
          <a:xfrm>
            <a:off x="571500" y="2926080"/>
            <a:ext cx="11049000" cy="10973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3" name="Text 1"/>
          <p:cNvSpPr/>
          <p:nvPr/>
        </p:nvSpPr>
        <p:spPr>
          <a:xfrm>
            <a:off x="571500" y="1828800"/>
            <a:ext cx="1104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UNIS Rate &amp; Quote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95290" y="2194560"/>
            <a:ext cx="107061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4000" dirty="0"/>
          </a:p>
        </p:txBody>
      </p:sp>
      <p:pic>
        <p:nvPicPr>
          <p:cNvPr id="11" name="Picture 10" descr="item-logo-fullcolor-blacktx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520" y="3246120"/>
            <a:ext cx="3108960" cy="122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2639</Words>
  <Application>WPS 演示</Application>
  <PresentationFormat>On-screen Show (16:9)</PresentationFormat>
  <Paragraphs>466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Inter</vt:lpstr>
      <vt:lpstr>苹方-简</vt:lpstr>
      <vt:lpstr>Inter</vt:lpstr>
      <vt:lpstr>Inter</vt:lpstr>
      <vt:lpstr>Noto Sans CJK SC</vt:lpstr>
      <vt:lpstr>Noto Sans CJK SC</vt:lpstr>
      <vt:lpstr>Noto Sans CJK SC</vt:lpstr>
      <vt:lpstr>微软雅黑</vt:lpstr>
      <vt:lpstr>方正雅意黑 GB18030L2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华文仿宋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 Day Family — UNIS Rate &amp; Quote</dc:title>
  <dc:creator>ITEM × COO AI</dc:creator>
  <dc:subject>PptxGenJS Presentation</dc:subject>
  <cp:lastModifiedBy>青杰</cp:lastModifiedBy>
  <cp:revision>11</cp:revision>
  <dcterms:created xsi:type="dcterms:W3CDTF">2026-10-29T03:23:17Z</dcterms:created>
  <dcterms:modified xsi:type="dcterms:W3CDTF">2026-10-29T03:23:17Z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31E58F2F17373CAF13B8E26AE22B1A3F_43</vt:lpwstr>
  </property>
</Properties>
</file>